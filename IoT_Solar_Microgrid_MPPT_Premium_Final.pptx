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91695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816352"/>
            <a:ext cx="12191695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2889504"/>
            <a:ext cx="12191695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011680"/>
            <a:ext cx="11247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</a:defRPr>
            </a:pPr>
            <a:r>
              <a:t>IoT-Based Solar Microgrid</a:t>
            </a:r>
          </a:p>
          <a:p>
            <a:pPr algn="ctr">
              <a:spcBef>
                <a:spcPts val="1000"/>
              </a:spcBef>
              <a:defRPr sz="4400" b="1">
                <a:solidFill>
                  <a:srgbClr val="00B4D8"/>
                </a:solidFill>
              </a:defRPr>
            </a:pPr>
            <a:r>
              <a:t>Energy Management System with MPPT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47472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ADB5BD"/>
                </a:solidFill>
              </a:defRPr>
            </a:pPr>
            <a:r>
              <a:t>Project Part-1  |  Seminar Presentation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0" y="3840480"/>
            <a:ext cx="4846320" cy="274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411480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M. Krishna (160123734050)</a:t>
            </a:r>
          </a:p>
          <a:p>
            <a:pPr algn="ctr">
              <a:spcBef>
                <a:spcPts val="600"/>
              </a:spcBef>
              <a:defRPr sz="1600">
                <a:solidFill>
                  <a:srgbClr val="FFFFFF"/>
                </a:solidFill>
              </a:defRPr>
            </a:pPr>
            <a:r>
              <a:t>N. Mounika (160123734014)  |  J. Akshitha (160123734005)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21208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ADB5BD"/>
                </a:solidFill>
              </a:defRPr>
            </a:pPr>
            <a:r>
              <a:t>Under the Guidance of  Mr. Cholleti Harish  |  Assistant Professor  |  Dept. of EEE, CBIT (Autonomous), Hyderabad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286000" y="5760720"/>
            <a:ext cx="7589520" cy="411480"/>
          </a:xfrm>
          <a:prstGeom prst="roundRect">
            <a:avLst/>
          </a:prstGeom>
          <a:solidFill>
            <a:srgbClr val="1B2838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00B4D8"/>
                </a:solidFill>
              </a:defRPr>
            </a:pPr>
            <a:r>
              <a:t>Department of Electrical and Electronics Engineering  |  CBIT (Autonomous), Hyderabad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5379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ADB5BD"/>
                </a:solidFill>
              </a:defRPr>
            </a:pPr>
            <a:r>
              <a:t>CBIT  |  Dept. of Electrical &amp; Electronics Engineering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DB5BD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20040"/>
            <a:ext cx="822960" cy="347472"/>
          </a:xfrm>
          <a:prstGeom prst="round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D1B2A"/>
                </a:solidFill>
              </a:defRPr>
            </a:pPr>
            <a: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0" y="228600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</a:defRPr>
            </a:pPr>
            <a:r>
              <a:t>Introduction &amp; Background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77240"/>
            <a:ext cx="11247120" cy="228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379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ADB5BD"/>
                </a:solidFill>
              </a:defRPr>
            </a:pPr>
            <a:r>
              <a:t>CBIT  |  Dept. of Electrical &amp; Electronics 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DB5BD"/>
                </a:solidFill>
              </a:defRPr>
            </a:pPr>
            <a: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51560"/>
            <a:ext cx="5486400" cy="2286000"/>
          </a:xfrm>
          <a:prstGeom prst="roundRect">
            <a:avLst/>
          </a:prstGeom>
          <a:solidFill>
            <a:srgbClr val="1B2838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 bIns="91440"/>
          <a:lstStyle/>
          <a:p>
            <a:pPr algn="ctr">
              <a:spcAft>
                <a:spcPts val="500"/>
              </a:spcAft>
              <a:defRPr sz="1400" b="1">
                <a:solidFill>
                  <a:srgbClr val="00B4D8"/>
                </a:solidFill>
              </a:defRPr>
            </a:pPr>
            <a:r>
              <a:t>Solar Microgrids</a:t>
            </a:r>
          </a:p>
          <a:p>
            <a:pPr>
              <a:spcAft>
                <a:spcPts val="200"/>
              </a:spcAft>
              <a:defRPr sz="1200">
                <a:solidFill>
                  <a:srgbClr val="ADB5BD"/>
                </a:solidFill>
              </a:defRPr>
            </a:pPr>
            <a:r>
              <a:t>• Solar-battery-load systems for off-grid &amp; backup power</a:t>
            </a:r>
          </a:p>
          <a:p>
            <a:pPr>
              <a:spcAft>
                <a:spcPts val="200"/>
              </a:spcAft>
              <a:defRPr sz="1200">
                <a:solidFill>
                  <a:srgbClr val="ADB5BD"/>
                </a:solidFill>
              </a:defRPr>
            </a:pPr>
            <a:r>
              <a:t>• Compact, self-contained microgrids at household scale</a:t>
            </a:r>
          </a:p>
          <a:p>
            <a:pPr>
              <a:spcAft>
                <a:spcPts val="200"/>
              </a:spcAft>
              <a:defRPr sz="1200">
                <a:solidFill>
                  <a:srgbClr val="ADB5BD"/>
                </a:solidFill>
              </a:defRPr>
            </a:pPr>
            <a:r>
              <a:t>• Target: 12V/20W panel + 7Ah SLA battery system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051560"/>
            <a:ext cx="5486400" cy="2286000"/>
          </a:xfrm>
          <a:prstGeom prst="roundRect">
            <a:avLst/>
          </a:prstGeom>
          <a:solidFill>
            <a:srgbClr val="1B2838"/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 bIns="91440"/>
          <a:lstStyle/>
          <a:p>
            <a:pPr algn="ctr">
              <a:spcAft>
                <a:spcPts val="500"/>
              </a:spcAft>
              <a:defRPr sz="1400" b="1">
                <a:solidFill>
                  <a:srgbClr val="FF6B35"/>
                </a:solidFill>
              </a:defRPr>
            </a:pPr>
            <a:r>
              <a:t>Maximum Power Point Tracking</a:t>
            </a:r>
          </a:p>
          <a:p>
            <a:pPr>
              <a:spcAft>
                <a:spcPts val="200"/>
              </a:spcAft>
              <a:defRPr sz="1200">
                <a:solidFill>
                  <a:srgbClr val="ADB5BD"/>
                </a:solidFill>
              </a:defRPr>
            </a:pPr>
            <a:r>
              <a:t>• Panel Vmp shifts with irradiance &amp; temperature continuously</a:t>
            </a:r>
          </a:p>
          <a:p>
            <a:pPr>
              <a:spcAft>
                <a:spcPts val="200"/>
              </a:spcAft>
              <a:defRPr sz="1200">
                <a:solidFill>
                  <a:srgbClr val="ADB5BD"/>
                </a:solidFill>
              </a:defRPr>
            </a:pPr>
            <a:r>
              <a:t>• P&amp;O algorithm tracks optimum to extract maximum power</a:t>
            </a:r>
          </a:p>
          <a:p>
            <a:pPr>
              <a:spcAft>
                <a:spcPts val="200"/>
              </a:spcAft>
              <a:defRPr sz="1200">
                <a:solidFill>
                  <a:srgbClr val="ADB5BD"/>
                </a:solidFill>
              </a:defRPr>
            </a:pPr>
            <a:r>
              <a:t>• Selected over fuzzy/ANN: no training data, real-time capable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474720"/>
            <a:ext cx="5486400" cy="2103120"/>
          </a:xfrm>
          <a:prstGeom prst="roundRect">
            <a:avLst/>
          </a:prstGeom>
          <a:solidFill>
            <a:srgbClr val="1B2838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 bIns="91440"/>
          <a:lstStyle/>
          <a:p>
            <a:pPr algn="ctr">
              <a:spcAft>
                <a:spcPts val="500"/>
              </a:spcAft>
              <a:defRPr sz="1400" b="1">
                <a:solidFill>
                  <a:srgbClr val="2ECC71"/>
                </a:solidFill>
              </a:defRPr>
            </a:pPr>
            <a:r>
              <a:t>IoT-Based Monitoring</a:t>
            </a:r>
          </a:p>
          <a:p>
            <a:pPr>
              <a:spcAft>
                <a:spcPts val="200"/>
              </a:spcAft>
              <a:defRPr sz="1200">
                <a:solidFill>
                  <a:srgbClr val="ADB5BD"/>
                </a:solidFill>
              </a:defRPr>
            </a:pPr>
            <a:r>
              <a:t>• Arduino UNO R4 WiFi for low-cost telemetry</a:t>
            </a:r>
          </a:p>
          <a:p>
            <a:pPr>
              <a:spcAft>
                <a:spcPts val="200"/>
              </a:spcAft>
              <a:defRPr sz="1200">
                <a:solidFill>
                  <a:srgbClr val="ADB5BD"/>
                </a:solidFill>
              </a:defRPr>
            </a:pPr>
            <a:r>
              <a:t>• ThingSpeak/Blynk dashboards with TLS 1.2 security</a:t>
            </a:r>
          </a:p>
          <a:p>
            <a:pPr>
              <a:spcAft>
                <a:spcPts val="200"/>
              </a:spcAft>
              <a:defRPr sz="1200">
                <a:solidFill>
                  <a:srgbClr val="ADB5BD"/>
                </a:solidFill>
              </a:defRPr>
            </a:pPr>
            <a:r>
              <a:t>• Remote visibility without dedicated telemetry hardware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474720"/>
            <a:ext cx="5486400" cy="2103120"/>
          </a:xfrm>
          <a:prstGeom prst="roundRect">
            <a:avLst/>
          </a:prstGeom>
          <a:solidFill>
            <a:srgbClr val="1B2838"/>
          </a:solidFill>
          <a:ln w="1905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 bIns="91440"/>
          <a:lstStyle/>
          <a:p>
            <a:pPr algn="ctr">
              <a:spcAft>
                <a:spcPts val="500"/>
              </a:spcAft>
              <a:defRPr sz="1400" b="1">
                <a:solidFill>
                  <a:srgbClr val="3498DB"/>
                </a:solidFill>
              </a:defRPr>
            </a:pPr>
            <a:r>
              <a:t>Why It Matters</a:t>
            </a:r>
          </a:p>
          <a:p>
            <a:pPr>
              <a:spcAft>
                <a:spcPts val="200"/>
              </a:spcAft>
              <a:defRPr sz="1200">
                <a:solidFill>
                  <a:srgbClr val="ADB5BD"/>
                </a:solidFill>
              </a:defRPr>
            </a:pPr>
            <a:r>
              <a:t>• Standalone solar without MPPT loses 20–30% energy</a:t>
            </a:r>
          </a:p>
          <a:p>
            <a:pPr>
              <a:spcAft>
                <a:spcPts val="200"/>
              </a:spcAft>
              <a:defRPr sz="1200">
                <a:solidFill>
                  <a:srgbClr val="ADB5BD"/>
                </a:solidFill>
              </a:defRPr>
            </a:pPr>
            <a:r>
              <a:t>• Active MPPT + EMS + IoT = smart, observable microgrid</a:t>
            </a:r>
          </a:p>
          <a:p>
            <a:pPr>
              <a:spcAft>
                <a:spcPts val="200"/>
              </a:spcAft>
              <a:defRPr sz="1200">
                <a:solidFill>
                  <a:srgbClr val="ADB5BD"/>
                </a:solidFill>
              </a:defRPr>
            </a:pPr>
            <a:r>
              <a:t>• Directly supports distributed renewable energy adoption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715000"/>
            <a:ext cx="11247120" cy="457200"/>
          </a:xfrm>
          <a:prstGeom prst="round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D1B2A"/>
                </a:solidFill>
              </a:defRPr>
            </a:pPr>
            <a:r>
              <a:t>KEY INSIGHT: Standalone solar without active MPPT loses 20–30% of available energy — the core inefficiency this project targets.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20040"/>
            <a:ext cx="822960" cy="347472"/>
          </a:xfrm>
          <a:prstGeom prst="round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D1B2A"/>
                </a:solidFill>
              </a:defRPr>
            </a:pPr>
            <a: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0" y="228600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</a:defRPr>
            </a:pPr>
            <a:r>
              <a:t>Problem Statement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77240"/>
            <a:ext cx="11247120" cy="228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379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ADB5BD"/>
                </a:solidFill>
              </a:defRPr>
            </a:pPr>
            <a:r>
              <a:t>CBIT  |  Dept. of Electrical &amp; Electronics 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DB5BD"/>
                </a:solidFill>
              </a:defRPr>
            </a:pPr>
            <a: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51560"/>
            <a:ext cx="11247120" cy="1097280"/>
          </a:xfrm>
          <a:prstGeom prst="roundRect">
            <a:avLst/>
          </a:prstGeom>
          <a:solidFill>
            <a:srgbClr val="1B2838"/>
          </a:solidFill>
          <a:ln w="254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Aft>
                <a:spcPts val="200"/>
              </a:spcAft>
              <a:defRPr sz="1400" b="1">
                <a:solidFill>
                  <a:srgbClr val="E74C3C"/>
                </a:solidFill>
              </a:defRPr>
            </a:pPr>
            <a:r>
              <a:t>No Power-Point Tracking</a:t>
            </a:r>
          </a:p>
          <a:p>
            <a:pPr>
              <a:spcAft>
                <a:spcPts val="100"/>
              </a:spcAft>
              <a:defRPr sz="1100">
                <a:solidFill>
                  <a:srgbClr val="ADB5BD"/>
                </a:solidFill>
              </a:defRPr>
            </a:pPr>
            <a:r>
              <a:t>Direct-connected panels operate below optimum voltage as sunlight and temperature shift, losing 20–30% of available energy. No active algorithm adjusts the operating point.</a:t>
            </a:r>
          </a:p>
          <a:p>
            <a:pPr>
              <a:defRPr sz="1100" i="1">
                <a:solidFill>
                  <a:srgbClr val="2ECC71"/>
                </a:solidFill>
              </a:defRPr>
            </a:pPr>
            <a:r>
              <a:t>→ Solution: Implement P&amp;O MPPT with buck converter to dynamically track Vmp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240280"/>
            <a:ext cx="11247120" cy="1097280"/>
          </a:xfrm>
          <a:prstGeom prst="roundRect">
            <a:avLst/>
          </a:prstGeom>
          <a:solidFill>
            <a:srgbClr val="1B2838"/>
          </a:solidFill>
          <a:ln w="254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Aft>
                <a:spcPts val="200"/>
              </a:spcAft>
              <a:defRPr sz="1400" b="1">
                <a:solidFill>
                  <a:srgbClr val="E74C3C"/>
                </a:solidFill>
              </a:defRPr>
            </a:pPr>
            <a:r>
              <a:t>No Battery Protection</a:t>
            </a:r>
          </a:p>
          <a:p>
            <a:pPr>
              <a:spcAft>
                <a:spcPts val="100"/>
              </a:spcAft>
              <a:defRPr sz="1100">
                <a:solidFill>
                  <a:srgbClr val="ADB5BD"/>
                </a:solidFill>
              </a:defRPr>
            </a:pPr>
            <a:r>
              <a:t>Loads stay connected as the battery deep-discharges under simple charge regulation. This shortens battery life (cycles reduced by 50%+) and risks permanent failure.</a:t>
            </a:r>
          </a:p>
          <a:p>
            <a:pPr>
              <a:defRPr sz="1100" i="1">
                <a:solidFill>
                  <a:srgbClr val="2ECC71"/>
                </a:solidFill>
              </a:defRPr>
            </a:pPr>
            <a:r>
              <a:t>→ Solution: Automated load shedding at 11.0V with 0.8V hysteresis recovery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429000"/>
            <a:ext cx="11247120" cy="1097280"/>
          </a:xfrm>
          <a:prstGeom prst="roundRect">
            <a:avLst/>
          </a:prstGeom>
          <a:solidFill>
            <a:srgbClr val="1B2838"/>
          </a:solidFill>
          <a:ln w="254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Aft>
                <a:spcPts val="200"/>
              </a:spcAft>
              <a:defRPr sz="1400" b="1">
                <a:solidFill>
                  <a:srgbClr val="E74C3C"/>
                </a:solidFill>
              </a:defRPr>
            </a:pPr>
            <a:r>
              <a:t>No Remote Visibility</a:t>
            </a:r>
          </a:p>
          <a:p>
            <a:pPr>
              <a:spcAft>
                <a:spcPts val="100"/>
              </a:spcAft>
              <a:defRPr sz="1100">
                <a:solidFill>
                  <a:srgbClr val="ADB5BD"/>
                </a:solidFill>
              </a:defRPr>
            </a:pPr>
            <a:r>
              <a:t>Operating status is invisible without a physical site visit. Faults, underperformance, and battery health issues go unnoticed for days or weeks.</a:t>
            </a:r>
          </a:p>
          <a:p>
            <a:pPr>
              <a:defRPr sz="1100" i="1">
                <a:solidFill>
                  <a:srgbClr val="2ECC71"/>
                </a:solidFill>
              </a:defRPr>
            </a:pPr>
            <a:r>
              <a:t>→ Solution: Real-time cloud dashboard with TLS-secured telemetry every 10s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617720"/>
            <a:ext cx="11247120" cy="1097280"/>
          </a:xfrm>
          <a:prstGeom prst="roundRect">
            <a:avLst/>
          </a:prstGeom>
          <a:solidFill>
            <a:srgbClr val="1B2838"/>
          </a:solidFill>
          <a:ln w="254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Aft>
                <a:spcPts val="200"/>
              </a:spcAft>
              <a:defRPr sz="1400" b="1">
                <a:solidFill>
                  <a:srgbClr val="E74C3C"/>
                </a:solidFill>
              </a:defRPr>
            </a:pPr>
            <a:r>
              <a:t>Fragmented Architectures</a:t>
            </a:r>
          </a:p>
          <a:p>
            <a:pPr>
              <a:spcAft>
                <a:spcPts val="100"/>
              </a:spcAft>
              <a:defRPr sz="1100">
                <a:solidFill>
                  <a:srgbClr val="ADB5BD"/>
                </a:solidFill>
              </a:defRPr>
            </a:pPr>
            <a:r>
              <a:t>Published prototypes typically implement MPPT or IoT monitoring, but rarely both together with automated load management on one low-cost board.</a:t>
            </a:r>
          </a:p>
          <a:p>
            <a:pPr>
              <a:defRPr sz="1100" i="1">
                <a:solidFill>
                  <a:srgbClr val="2ECC71"/>
                </a:solidFill>
              </a:defRPr>
            </a:pPr>
            <a:r>
              <a:t>→ Solution: Single-board integration: MPPT + EMS + IoT on Arduino UNO R4 WiFi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806440"/>
            <a:ext cx="11247120" cy="502920"/>
          </a:xfrm>
          <a:prstGeom prst="round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D1B2A"/>
                </a:solidFill>
              </a:defRPr>
            </a:pPr>
            <a:r>
              <a:t>RESEARCH GAP: A single low-cost board combining active MPPT, automated battery/load protection, and IoT reporting — with measured efficiency — is largely absent from literature.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20040"/>
            <a:ext cx="822960" cy="347472"/>
          </a:xfrm>
          <a:prstGeom prst="round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D1B2A"/>
                </a:solidFill>
              </a:defRPr>
            </a:pPr>
            <a: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0" y="228600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</a:defRPr>
            </a:pPr>
            <a:r>
              <a:t>Objectives of the Project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77240"/>
            <a:ext cx="11247120" cy="228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379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ADB5BD"/>
                </a:solidFill>
              </a:defRPr>
            </a:pPr>
            <a:r>
              <a:t>CBIT  |  Dept. of Electrical &amp; Electronics 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DB5BD"/>
                </a:solidFill>
              </a:defRPr>
            </a:pPr>
            <a: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05840"/>
            <a:ext cx="11247120" cy="457200"/>
          </a:xfrm>
          <a:prstGeom prst="roundRect">
            <a:avLst/>
          </a:prstGeom>
          <a:solidFill>
            <a:srgbClr val="154360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MAIN OBJECTIVE: Design and implement an IoT-based solar microgrid energy management system that maximizes energy harvest via MPPT, protects the battery, and enables real-time remote monitoring.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1737360"/>
            <a:ext cx="411480" cy="41148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D1B2A"/>
                </a:solidFill>
              </a:defRPr>
            </a:pPr>
            <a:r>
              <a:t>01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97280" y="1600200"/>
            <a:ext cx="10515600" cy="1051560"/>
          </a:xfrm>
          <a:prstGeom prst="roundRect">
            <a:avLst/>
          </a:prstGeom>
          <a:solidFill>
            <a:srgbClr val="1B2838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 bIns="91440"/>
          <a:lstStyle/>
          <a:p>
            <a:pPr algn="ctr">
              <a:spcAft>
                <a:spcPts val="500"/>
              </a:spcAft>
              <a:defRPr sz="1300" b="1">
                <a:solidFill>
                  <a:srgbClr val="00B4D8"/>
                </a:solidFill>
              </a:defRPr>
            </a:pPr>
            <a:r>
              <a:t>Design MPPT Control</a:t>
            </a:r>
          </a:p>
          <a:p>
            <a:pPr>
              <a:spcAft>
                <a:spcPts val="200"/>
              </a:spcAft>
              <a:defRPr sz="1100">
                <a:solidFill>
                  <a:srgbClr val="ADB5BD"/>
                </a:solidFill>
              </a:defRPr>
            </a:pPr>
            <a:r>
              <a:t>• Perturb &amp; Observe control loop driving IRF540N MOSFET buck converter</a:t>
            </a:r>
          </a:p>
          <a:p>
            <a:pPr>
              <a:spcAft>
                <a:spcPts val="200"/>
              </a:spcAft>
              <a:defRPr sz="1100">
                <a:solidFill>
                  <a:srgbClr val="ADB5BD"/>
                </a:solidFill>
              </a:defRPr>
            </a:pPr>
            <a:r>
              <a:t>• Target: ≥85% tracking efficiency with &lt;5s response to irradiance changes</a:t>
            </a:r>
          </a:p>
          <a:p>
            <a:pPr>
              <a:spcAft>
                <a:spcPts val="200"/>
              </a:spcAft>
              <a:defRPr sz="1100">
                <a:solidFill>
                  <a:srgbClr val="ADB5BD"/>
                </a:solidFill>
              </a:defRPr>
            </a:pPr>
            <a:r>
              <a:t>• ΔD = 1% step size | 20kHz switching | 100ms control loop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2880360"/>
            <a:ext cx="411480" cy="41148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D1B2A"/>
                </a:solidFill>
              </a:defRPr>
            </a:pPr>
            <a:r>
              <a:t>02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97280" y="2743200"/>
            <a:ext cx="10515600" cy="1051560"/>
          </a:xfrm>
          <a:prstGeom prst="roundRect">
            <a:avLst/>
          </a:prstGeom>
          <a:solidFill>
            <a:srgbClr val="1B2838"/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 bIns="91440"/>
          <a:lstStyle/>
          <a:p>
            <a:pPr algn="ctr">
              <a:spcAft>
                <a:spcPts val="500"/>
              </a:spcAft>
              <a:defRPr sz="1300" b="1">
                <a:solidFill>
                  <a:srgbClr val="FF6B35"/>
                </a:solidFill>
              </a:defRPr>
            </a:pPr>
            <a:r>
              <a:t>Monitor Continuously</a:t>
            </a:r>
          </a:p>
          <a:p>
            <a:pPr>
              <a:spcAft>
                <a:spcPts val="200"/>
              </a:spcAft>
              <a:defRPr sz="1100">
                <a:solidFill>
                  <a:srgbClr val="ADB5BD"/>
                </a:solidFill>
              </a:defRPr>
            </a:pPr>
            <a:r>
              <a:t>• Dual INA219 sensors: panel (0x40) and battery (0x41) I/V sensing</a:t>
            </a:r>
          </a:p>
          <a:p>
            <a:pPr>
              <a:spcAft>
                <a:spcPts val="200"/>
              </a:spcAft>
              <a:defRPr sz="1100">
                <a:solidFill>
                  <a:srgbClr val="ADB5BD"/>
                </a:solidFill>
              </a:defRPr>
            </a:pPr>
            <a:r>
              <a:t>• Real-time computation of power, SOC estimation, and system health</a:t>
            </a:r>
          </a:p>
          <a:p>
            <a:pPr>
              <a:spcAft>
                <a:spcPts val="200"/>
              </a:spcAft>
              <a:defRPr sz="1100">
                <a:solidFill>
                  <a:srgbClr val="ADB5BD"/>
                </a:solidFill>
              </a:defRPr>
            </a:pPr>
            <a:r>
              <a:t>• Telemetry update: 5–10s to cloud | Local LCD: continuous display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4023360"/>
            <a:ext cx="411480" cy="411480"/>
          </a:xfrm>
          <a:prstGeom prst="ellipse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D1B2A"/>
                </a:solidFill>
              </a:defRPr>
            </a:pPr>
            <a:r>
              <a:t>03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97280" y="3886200"/>
            <a:ext cx="10515600" cy="1051560"/>
          </a:xfrm>
          <a:prstGeom prst="roundRect">
            <a:avLst/>
          </a:prstGeom>
          <a:solidFill>
            <a:srgbClr val="1B2838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 bIns="91440"/>
          <a:lstStyle/>
          <a:p>
            <a:pPr algn="ctr">
              <a:spcAft>
                <a:spcPts val="500"/>
              </a:spcAft>
              <a:defRPr sz="1300" b="1">
                <a:solidFill>
                  <a:srgbClr val="2ECC71"/>
                </a:solidFill>
              </a:defRPr>
            </a:pPr>
            <a:r>
              <a:t>Protect Power Flow</a:t>
            </a:r>
          </a:p>
          <a:p>
            <a:pPr>
              <a:spcAft>
                <a:spcPts val="200"/>
              </a:spcAft>
              <a:defRPr sz="1100">
                <a:solidFill>
                  <a:srgbClr val="ADB5BD"/>
                </a:solidFill>
              </a:defRPr>
            </a:pPr>
            <a:r>
              <a:t>• Automated load switching based on real-time battery voltage thresholds</a:t>
            </a:r>
          </a:p>
          <a:p>
            <a:pPr>
              <a:spcAft>
                <a:spcPts val="200"/>
              </a:spcAft>
              <a:defRPr sz="1100">
                <a:solidFill>
                  <a:srgbClr val="ADB5BD"/>
                </a:solidFill>
              </a:defRPr>
            </a:pPr>
            <a:r>
              <a:t>• Deep-discharge cutoff: 11.0V OFF | Recovery: 11.8V ON | Overcharge: 14.4V</a:t>
            </a:r>
          </a:p>
          <a:p>
            <a:pPr>
              <a:spcAft>
                <a:spcPts val="200"/>
              </a:spcAft>
              <a:defRPr sz="1100">
                <a:solidFill>
                  <a:srgbClr val="ADB5BD"/>
                </a:solidFill>
              </a:defRPr>
            </a:pPr>
            <a:r>
              <a:t>• Overcurrent protection: &gt;2A for &gt;2s triggers disconnect + alert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5166360"/>
            <a:ext cx="411480" cy="411480"/>
          </a:xfrm>
          <a:prstGeom prst="ellipse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D1B2A"/>
                </a:solidFill>
              </a:defRPr>
            </a:pPr>
            <a:r>
              <a:t>04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97280" y="5029200"/>
            <a:ext cx="10515600" cy="1051560"/>
          </a:xfrm>
          <a:prstGeom prst="roundRect">
            <a:avLst/>
          </a:prstGeom>
          <a:solidFill>
            <a:srgbClr val="1B2838"/>
          </a:solidFill>
          <a:ln w="1905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 bIns="91440"/>
          <a:lstStyle/>
          <a:p>
            <a:pPr algn="ctr">
              <a:spcAft>
                <a:spcPts val="500"/>
              </a:spcAft>
              <a:defRPr sz="1300" b="1">
                <a:solidFill>
                  <a:srgbClr val="3498DB"/>
                </a:solidFill>
              </a:defRPr>
            </a:pPr>
            <a:r>
              <a:t>Report &amp; Alert</a:t>
            </a:r>
          </a:p>
          <a:p>
            <a:pPr>
              <a:spcAft>
                <a:spcPts val="200"/>
              </a:spcAft>
              <a:defRPr sz="1100">
                <a:solidFill>
                  <a:srgbClr val="ADB5BD"/>
                </a:solidFill>
              </a:defRPr>
            </a:pPr>
            <a:r>
              <a:t>• Stream live data to ThingSpeak/Blynk dashboard via TLS 1.2</a:t>
            </a:r>
          </a:p>
          <a:p>
            <a:pPr>
              <a:spcAft>
                <a:spcPts val="200"/>
              </a:spcAft>
              <a:defRPr sz="1100">
                <a:solidFill>
                  <a:srgbClr val="ADB5BD"/>
                </a:solidFill>
              </a:defRPr>
            </a:pPr>
            <a:r>
              <a:t>• Email alerts on abnormal conditions: low battery, overcurrent, connectivity loss</a:t>
            </a:r>
          </a:p>
          <a:p>
            <a:pPr>
              <a:spcAft>
                <a:spcPts val="200"/>
              </a:spcAft>
              <a:defRPr sz="1100">
                <a:solidFill>
                  <a:srgbClr val="ADB5BD"/>
                </a:solidFill>
              </a:defRPr>
            </a:pPr>
            <a:r>
              <a:t>• WiFi auto-reconnect with exponential backoff | Local serial monitor for debugging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20040"/>
            <a:ext cx="822960" cy="347472"/>
          </a:xfrm>
          <a:prstGeom prst="round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D1B2A"/>
                </a:solidFill>
              </a:defRPr>
            </a:pPr>
            <a: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0" y="228600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</a:defRPr>
            </a:pPr>
            <a:r>
              <a:t>Literature Survey 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77240"/>
            <a:ext cx="11247120" cy="228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379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ADB5BD"/>
                </a:solidFill>
              </a:defRPr>
            </a:pPr>
            <a:r>
              <a:t>CBIT  |  Dept. of Electrical &amp; Electronics 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DB5BD"/>
                </a:solidFill>
              </a:defRPr>
            </a:pPr>
            <a:r>
              <a:t>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051560"/>
          <a:ext cx="1124712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4389120"/>
                <a:gridCol w="3840480"/>
              </a:tblGrid>
              <a:tr h="70104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D1B2A"/>
                          </a:solidFill>
                        </a:defRPr>
                      </a:pPr>
                      <a:r>
                        <a:t>Author / Source</a:t>
                      </a:r>
                    </a:p>
                  </a:txBody>
                  <a:tcPr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D1B2A"/>
                          </a:solidFill>
                        </a:defRPr>
                      </a:pPr>
                      <a:r>
                        <a:t>Approach</a:t>
                      </a:r>
                    </a:p>
                  </a:txBody>
                  <a:tcPr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D1B2A"/>
                          </a:solidFill>
                        </a:defRPr>
                      </a:pPr>
                      <a:r>
                        <a:t>Limitation</a:t>
                      </a:r>
                    </a:p>
                  </a:txBody>
                  <a:tcPr>
                    <a:solidFill>
                      <a:srgbClr val="00B4D8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ADB5BD"/>
                          </a:solidFill>
                        </a:defRPr>
                      </a:pPr>
                      <a:r>
                        <a:t>IEEE Xplore, doc. 9862445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ADB5BD"/>
                          </a:solidFill>
                        </a:defRPr>
                      </a:pPr>
                      <a:r>
                        <a:t>PWM vs MPPT hardware comparison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ADB5BD"/>
                          </a:solidFill>
                        </a:defRPr>
                      </a:pPr>
                      <a:r>
                        <a:t>MPPT reached 94% vs 65% for PWM — no IoT layer</a:t>
                      </a:r>
                    </a:p>
                  </a:txBody>
                  <a:tcPr/>
                </a:tc>
              </a:tr>
              <a:tr h="7010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ADB5BD"/>
                          </a:solidFill>
                        </a:defRPr>
                      </a:pPr>
                      <a:r>
                        <a:t>Pooja et al. (2023), ICERECT</a:t>
                      </a:r>
                    </a:p>
                  </a:txBody>
                  <a:tcPr>
                    <a:solidFill>
                      <a:srgbClr val="1B28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ADB5BD"/>
                          </a:solidFill>
                        </a:defRPr>
                      </a:pPr>
                      <a:r>
                        <a:t>Arduino buck/boost mode-switching controller</a:t>
                      </a:r>
                    </a:p>
                  </a:txBody>
                  <a:tcPr>
                    <a:solidFill>
                      <a:srgbClr val="1B28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ADB5BD"/>
                          </a:solidFill>
                        </a:defRPr>
                      </a:pPr>
                      <a:r>
                        <a:t>Stable 12V output; no IoT reporting implemented</a:t>
                      </a:r>
                    </a:p>
                  </a:txBody>
                  <a:tcPr>
                    <a:solidFill>
                      <a:srgbClr val="1B2838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ADB5BD"/>
                          </a:solidFill>
                        </a:defRPr>
                      </a:pPr>
                      <a:r>
                        <a:t>Barua et al. (2016), WIECON-ECE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ADB5BD"/>
                          </a:solidFill>
                        </a:defRPr>
                      </a:pPr>
                      <a:r>
                        <a:t>Arduino Uno + buck converter; IC vs P&amp;O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ADB5BD"/>
                          </a:solidFill>
                        </a:defRPr>
                      </a:pPr>
                      <a:r>
                        <a:t>Power-electronics layer only, no monitoring</a:t>
                      </a:r>
                    </a:p>
                  </a:txBody>
                  <a:tcPr/>
                </a:tc>
              </a:tr>
              <a:tr h="7010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ADB5BD"/>
                          </a:solidFill>
                        </a:defRPr>
                      </a:pPr>
                      <a:r>
                        <a:t>IEEE Xplore, doc. 11337085</a:t>
                      </a:r>
                    </a:p>
                  </a:txBody>
                  <a:tcPr>
                    <a:solidFill>
                      <a:srgbClr val="1B28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ADB5BD"/>
                          </a:solidFill>
                        </a:defRPr>
                      </a:pPr>
                      <a:r>
                        <a:t>ESP32 + INA219 with dual-axis tracker</a:t>
                      </a:r>
                    </a:p>
                  </a:txBody>
                  <a:tcPr>
                    <a:solidFill>
                      <a:srgbClr val="1B28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ADB5BD"/>
                          </a:solidFill>
                        </a:defRPr>
                      </a:pPr>
                      <a:r>
                        <a:t>Mechanical tracking only; no battery EMS</a:t>
                      </a:r>
                    </a:p>
                  </a:txBody>
                  <a:tcPr>
                    <a:solidFill>
                      <a:srgbClr val="1B2838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ADB5BD"/>
                          </a:solidFill>
                        </a:defRPr>
                      </a:pPr>
                      <a:r>
                        <a:t>Tasmant et al. (2025), Comp. &amp; Elec. Eng.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ADB5BD"/>
                          </a:solidFill>
                        </a:defRPr>
                      </a:pPr>
                      <a:r>
                        <a:t>Survey of ML forecasting + IoT connectivity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ADB5BD"/>
                          </a:solidFill>
                        </a:defRPr>
                      </a:pPr>
                      <a:r>
                        <a:t>Most ML-EMS work remains simulation-based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57200" y="5394960"/>
            <a:ext cx="11247120" cy="548640"/>
          </a:xfrm>
          <a:prstGeom prst="round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D1B2A"/>
                </a:solidFill>
              </a:defRPr>
            </a:pPr>
            <a:r>
              <a:t>REMAINING GAP: 15 IEEE/peer-reviewed sources reviewed. Most address only one dimension — a single low-cost board combining MPPT + EMS + IoT with measured efficiency remains unaddressed.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20040"/>
            <a:ext cx="822960" cy="347472"/>
          </a:xfrm>
          <a:prstGeom prst="round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D1B2A"/>
                </a:solidFill>
              </a:defRPr>
            </a:pPr>
            <a: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0" y="228600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</a:defRPr>
            </a:pPr>
            <a:r>
              <a:t>Proposed Methodology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77240"/>
            <a:ext cx="11247120" cy="228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379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ADB5BD"/>
                </a:solidFill>
              </a:defRPr>
            </a:pPr>
            <a:r>
              <a:t>CBIT  |  Dept. of Electrical &amp; Electronics 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DB5BD"/>
                </a:solidFill>
              </a:defRPr>
            </a:pPr>
            <a:r>
              <a:t>6</a:t>
            </a:r>
          </a:p>
        </p:txBody>
      </p:sp>
      <p:pic>
        <p:nvPicPr>
          <p:cNvPr id="7" name="Picture 6" descr="methodology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11247120" cy="25603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400800" y="3749039"/>
            <a:ext cx="5303520" cy="2377440"/>
          </a:xfrm>
          <a:prstGeom prst="roundRect">
            <a:avLst/>
          </a:prstGeom>
          <a:solidFill>
            <a:srgbClr val="1B2838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 bIns="91440"/>
          <a:lstStyle/>
          <a:p>
            <a:pPr algn="ctr">
              <a:spcAft>
                <a:spcPts val="500"/>
              </a:spcAft>
              <a:defRPr sz="1300" b="1">
                <a:solidFill>
                  <a:srgbClr val="00B4D8"/>
                </a:solidFill>
              </a:defRPr>
            </a:pPr>
            <a:r>
              <a:t>Tools &amp; Platform</a:t>
            </a:r>
          </a:p>
          <a:p>
            <a:pPr>
              <a:spcAft>
                <a:spcPts val="200"/>
              </a:spcAft>
              <a:defRPr sz="1100">
                <a:solidFill>
                  <a:srgbClr val="ADB5BD"/>
                </a:solidFill>
              </a:defRPr>
            </a:pPr>
            <a:r>
              <a:t>• Arduino UNO R4 WiFi — 32-bit ARM Cortex-M4, 256KB Flash</a:t>
            </a:r>
          </a:p>
          <a:p>
            <a:pPr>
              <a:spcAft>
                <a:spcPts val="200"/>
              </a:spcAft>
              <a:defRPr sz="1100">
                <a:solidFill>
                  <a:srgbClr val="ADB5BD"/>
                </a:solidFill>
              </a:defRPr>
            </a:pPr>
            <a:r>
              <a:t>• Dual INA219 — I²C 0x40 (panel) &amp; 0x41 (battery)</a:t>
            </a:r>
          </a:p>
          <a:p>
            <a:pPr>
              <a:spcAft>
                <a:spcPts val="200"/>
              </a:spcAft>
              <a:defRPr sz="1100">
                <a:solidFill>
                  <a:srgbClr val="ADB5BD"/>
                </a:solidFill>
              </a:defRPr>
            </a:pPr>
            <a:r>
              <a:t>• IRF540N + TLP250 — 20kHz buck converter with opto-isolation</a:t>
            </a:r>
          </a:p>
          <a:p>
            <a:pPr>
              <a:spcAft>
                <a:spcPts val="200"/>
              </a:spcAft>
              <a:defRPr sz="1100">
                <a:solidFill>
                  <a:srgbClr val="ADB5BD"/>
                </a:solidFill>
              </a:defRPr>
            </a:pPr>
            <a:r>
              <a:t>• 2-channel relay — automated load switching via D7</a:t>
            </a:r>
          </a:p>
          <a:p>
            <a:pPr>
              <a:spcAft>
                <a:spcPts val="200"/>
              </a:spcAft>
              <a:defRPr sz="1100">
                <a:solidFill>
                  <a:srgbClr val="ADB5BD"/>
                </a:solidFill>
              </a:defRPr>
            </a:pPr>
            <a:r>
              <a:t>• ThingSpeak/Blynk — TLS-secured cloud dashboards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49039"/>
            <a:ext cx="5760720" cy="2377440"/>
          </a:xfrm>
          <a:prstGeom prst="roundRect">
            <a:avLst/>
          </a:prstGeom>
          <a:solidFill>
            <a:srgbClr val="1B2838"/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 bIns="91440"/>
          <a:lstStyle/>
          <a:p>
            <a:pPr algn="ctr">
              <a:spcAft>
                <a:spcPts val="500"/>
              </a:spcAft>
              <a:defRPr sz="1300" b="1">
                <a:solidFill>
                  <a:srgbClr val="FF6B35"/>
                </a:solidFill>
              </a:defRPr>
            </a:pPr>
            <a:r>
              <a:t>Why This Approach</a:t>
            </a:r>
          </a:p>
          <a:p>
            <a:pPr>
              <a:spcAft>
                <a:spcPts val="200"/>
              </a:spcAft>
              <a:defRPr sz="1100">
                <a:solidFill>
                  <a:srgbClr val="ADB5BD"/>
                </a:solidFill>
              </a:defRPr>
            </a:pPr>
            <a:r>
              <a:t>• P&amp;O selected over IncCond &amp; Fuzzy/ANN: reliable in real time</a:t>
            </a:r>
          </a:p>
          <a:p>
            <a:pPr>
              <a:spcAft>
                <a:spcPts val="200"/>
              </a:spcAft>
              <a:defRPr sz="1100">
                <a:solidFill>
                  <a:srgbClr val="ADB5BD"/>
                </a:solidFill>
              </a:defRPr>
            </a:pPr>
            <a:r>
              <a:t>• No training data required — validated within one semester</a:t>
            </a:r>
          </a:p>
          <a:p>
            <a:pPr>
              <a:spcAft>
                <a:spcPts val="200"/>
              </a:spcAft>
              <a:defRPr sz="1100">
                <a:solidFill>
                  <a:srgbClr val="ADB5BD"/>
                </a:solidFill>
              </a:defRPr>
            </a:pPr>
            <a:r>
              <a:t>• 32-bit core handles control loop + WiFi stack concurrently</a:t>
            </a:r>
          </a:p>
          <a:p>
            <a:pPr>
              <a:spcAft>
                <a:spcPts val="200"/>
              </a:spcAft>
              <a:defRPr sz="1100">
                <a:solidFill>
                  <a:srgbClr val="ADB5BD"/>
                </a:solidFill>
              </a:defRPr>
            </a:pPr>
            <a:r>
              <a:t>• Low-cost BOM (&lt; ₹3,700) enables academic replication</a:t>
            </a:r>
          </a:p>
          <a:p>
            <a:pPr>
              <a:spcAft>
                <a:spcPts val="200"/>
              </a:spcAft>
              <a:defRPr sz="1100">
                <a:solidFill>
                  <a:srgbClr val="ADB5BD"/>
                </a:solidFill>
              </a:defRPr>
            </a:pPr>
            <a:r>
              <a:t>• Buck topology chosen for 12V→12V step-down efficiency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20040"/>
            <a:ext cx="822960" cy="347472"/>
          </a:xfrm>
          <a:prstGeom prst="round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D1B2A"/>
                </a:solidFill>
              </a:defRPr>
            </a:pPr>
            <a: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0" y="228600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</a:defRPr>
            </a:pPr>
            <a:r>
              <a:t>System Architecture &amp; Hardware Design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77240"/>
            <a:ext cx="11247120" cy="228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379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ADB5BD"/>
                </a:solidFill>
              </a:defRPr>
            </a:pPr>
            <a:r>
              <a:t>CBIT  |  Dept. of Electrical &amp; Electronics 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DB5BD"/>
                </a:solidFill>
              </a:defRPr>
            </a:pPr>
            <a:r>
              <a:t>7</a:t>
            </a:r>
          </a:p>
        </p:txBody>
      </p:sp>
      <p:pic>
        <p:nvPicPr>
          <p:cNvPr id="7" name="Picture 6" descr="system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11247120" cy="36576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57200" y="4846320"/>
            <a:ext cx="11247120" cy="1188720"/>
          </a:xfrm>
          <a:prstGeom prst="roundRect">
            <a:avLst/>
          </a:prstGeom>
          <a:solidFill>
            <a:srgbClr val="1B2838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300" b="1">
                <a:solidFill>
                  <a:srgbClr val="00B4D8"/>
                </a:solidFill>
              </a:defRPr>
            </a:pPr>
            <a:r>
              <a:t>KEY SPECIFICATIONS</a:t>
            </a:r>
          </a:p>
          <a:p>
            <a:pPr>
              <a:defRPr sz="1100">
                <a:solidFill>
                  <a:srgbClr val="ADB5BD"/>
                </a:solidFill>
              </a:defRPr>
            </a:pPr>
            <a:r>
              <a:t>Panel: 20W/12V  |  Battery: 12V/7Ah SLA  |  Buck: 100μH, 20kHz, IRF540N+TLP250  |  INA219 ×2 (0x40, 0x41)  |  Voltage divider: 10kΩ/3.3kΩ  |  Duty range: 10%–90%  |  Arduino UNO R4 WiFi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20040"/>
            <a:ext cx="822960" cy="347472"/>
          </a:xfrm>
          <a:prstGeom prst="round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D1B2A"/>
                </a:solidFill>
              </a:defRPr>
            </a:pPr>
            <a: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0" y="228600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</a:defRPr>
            </a:pPr>
            <a:r>
              <a:t>Component Specifications &amp; Bill of Materials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77240"/>
            <a:ext cx="11247120" cy="228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379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ADB5BD"/>
                </a:solidFill>
              </a:defRPr>
            </a:pPr>
            <a:r>
              <a:t>CBIT  |  Dept. of Electrical &amp; Electronics 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DB5BD"/>
                </a:solidFill>
              </a:defRPr>
            </a:pPr>
            <a:r>
              <a:t>8</a:t>
            </a:r>
          </a:p>
        </p:txBody>
      </p:sp>
      <p:pic>
        <p:nvPicPr>
          <p:cNvPr id="7" name="Picture 6" descr="cost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5029200" cy="2560320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0" y="1051560"/>
          <a:ext cx="603504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011680"/>
                <a:gridCol w="914400"/>
                <a:gridCol w="91440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D1B2A"/>
                          </a:solidFill>
                        </a:defRPr>
                      </a:pPr>
                      <a:r>
                        <a:t>Component</a:t>
                      </a:r>
                    </a:p>
                  </a:txBody>
                  <a:tcPr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D1B2A"/>
                          </a:solidFill>
                        </a:defRPr>
                      </a:pPr>
                      <a:r>
                        <a:t>Specification</a:t>
                      </a:r>
                    </a:p>
                  </a:txBody>
                  <a:tcPr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D1B2A"/>
                          </a:solidFill>
                        </a:defRPr>
                      </a:pPr>
                      <a:r>
                        <a:t>Qty</a:t>
                      </a:r>
                    </a:p>
                  </a:txBody>
                  <a:tcPr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D1B2A"/>
                          </a:solidFill>
                        </a:defRPr>
                      </a:pPr>
                      <a:r>
                        <a:t>Cost</a:t>
                      </a:r>
                    </a:p>
                  </a:txBody>
                  <a:tcPr>
                    <a:solidFill>
                      <a:srgbClr val="00B4D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ADB5BD"/>
                          </a:solidFill>
                        </a:defRPr>
                      </a:pPr>
                      <a:r>
                        <a:t>Arduino UNO R4 WiFi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ADB5BD"/>
                          </a:solidFill>
                        </a:defRPr>
                      </a:pPr>
                      <a:r>
                        <a:t>ARM Cortex-M4, 256KB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ADB5BD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ADB5BD"/>
                          </a:solidFill>
                        </a:defRPr>
                      </a:pPr>
                      <a:r>
                        <a:t>₹1,800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ADB5BD"/>
                          </a:solidFill>
                        </a:defRPr>
                      </a:pPr>
                      <a:r>
                        <a:t>INA219 Module</a:t>
                      </a:r>
                    </a:p>
                  </a:txBody>
                  <a:tcPr>
                    <a:solidFill>
                      <a:srgbClr val="1B28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ADB5BD"/>
                          </a:solidFill>
                        </a:defRPr>
                      </a:pPr>
                      <a:r>
                        <a:t>I²C, ±3.2A, 26V</a:t>
                      </a:r>
                    </a:p>
                  </a:txBody>
                  <a:tcPr>
                    <a:solidFill>
                      <a:srgbClr val="1B28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ADB5BD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1B28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ADB5BD"/>
                          </a:solidFill>
                        </a:defRPr>
                      </a:pPr>
                      <a:r>
                        <a:t>₹180</a:t>
                      </a:r>
                    </a:p>
                  </a:txBody>
                  <a:tcPr>
                    <a:solidFill>
                      <a:srgbClr val="1B283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ADB5BD"/>
                          </a:solidFill>
                        </a:defRPr>
                      </a:pPr>
                      <a:r>
                        <a:t>Solar Panel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ADB5BD"/>
                          </a:solidFill>
                        </a:defRPr>
                      </a:pPr>
                      <a:r>
                        <a:t>20W, 12V, Poly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ADB5BD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ADB5BD"/>
                          </a:solidFill>
                        </a:defRPr>
                      </a:pPr>
                      <a:r>
                        <a:t>₹800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ADB5BD"/>
                          </a:solidFill>
                        </a:defRPr>
                      </a:pPr>
                      <a:r>
                        <a:t>SLA Battery</a:t>
                      </a:r>
                    </a:p>
                  </a:txBody>
                  <a:tcPr>
                    <a:solidFill>
                      <a:srgbClr val="1B28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ADB5BD"/>
                          </a:solidFill>
                        </a:defRPr>
                      </a:pPr>
                      <a:r>
                        <a:t>12V, 7Ah, Deep-cycle</a:t>
                      </a:r>
                    </a:p>
                  </a:txBody>
                  <a:tcPr>
                    <a:solidFill>
                      <a:srgbClr val="1B28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ADB5BD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1B28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ADB5BD"/>
                          </a:solidFill>
                        </a:defRPr>
                      </a:pPr>
                      <a:r>
                        <a:t>₹650</a:t>
                      </a:r>
                    </a:p>
                  </a:txBody>
                  <a:tcPr>
                    <a:solidFill>
                      <a:srgbClr val="1B283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ADB5BD"/>
                          </a:solidFill>
                        </a:defRPr>
                      </a:pPr>
                      <a:r>
                        <a:t>IRF540N MOSFET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ADB5BD"/>
                          </a:solidFill>
                        </a:defRPr>
                      </a:pPr>
                      <a:r>
                        <a:t>100V, 33A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ADB5BD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ADB5BD"/>
                          </a:solidFill>
                        </a:defRPr>
                      </a:pPr>
                      <a:r>
                        <a:t>₹35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ADB5BD"/>
                          </a:solidFill>
                        </a:defRPr>
                      </a:pPr>
                      <a:r>
                        <a:t>TLP250 Driver</a:t>
                      </a:r>
                    </a:p>
                  </a:txBody>
                  <a:tcPr>
                    <a:solidFill>
                      <a:srgbClr val="1B28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ADB5BD"/>
                          </a:solidFill>
                        </a:defRPr>
                      </a:pPr>
                      <a:r>
                        <a:t>Opto-isolated, 1.5A</a:t>
                      </a:r>
                    </a:p>
                  </a:txBody>
                  <a:tcPr>
                    <a:solidFill>
                      <a:srgbClr val="1B28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ADB5BD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1B28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ADB5BD"/>
                          </a:solidFill>
                        </a:defRPr>
                      </a:pPr>
                      <a:r>
                        <a:t>₹55</a:t>
                      </a:r>
                    </a:p>
                  </a:txBody>
                  <a:tcPr>
                    <a:solidFill>
                      <a:srgbClr val="1B283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ADB5BD"/>
                          </a:solidFill>
                        </a:defRPr>
                      </a:pPr>
                      <a:r>
                        <a:t>Buck Inductor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ADB5BD"/>
                          </a:solidFill>
                        </a:defRPr>
                      </a:pPr>
                      <a:r>
                        <a:t>100μH, 3A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ADB5BD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ADB5BD"/>
                          </a:solidFill>
                        </a:defRPr>
                      </a:pPr>
                      <a:r>
                        <a:t>₹45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ADB5BD"/>
                          </a:solidFill>
                        </a:defRPr>
                      </a:pPr>
                      <a:r>
                        <a:t>Schottky Diode</a:t>
                      </a:r>
                    </a:p>
                  </a:txBody>
                  <a:tcPr>
                    <a:solidFill>
                      <a:srgbClr val="1B28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ADB5BD"/>
                          </a:solidFill>
                        </a:defRPr>
                      </a:pPr>
                      <a:r>
                        <a:t>1N5822, 40V, 3A</a:t>
                      </a:r>
                    </a:p>
                  </a:txBody>
                  <a:tcPr>
                    <a:solidFill>
                      <a:srgbClr val="1B28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ADB5BD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1B28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ADB5BD"/>
                          </a:solidFill>
                        </a:defRPr>
                      </a:pPr>
                      <a:r>
                        <a:t>₹15</a:t>
                      </a:r>
                    </a:p>
                  </a:txBody>
                  <a:tcPr>
                    <a:solidFill>
                      <a:srgbClr val="1B283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TOTAL (excl. enclosure/wiring)</a:t>
                      </a:r>
                    </a:p>
                  </a:txBody>
                  <a:tcPr>
                    <a:solidFill>
                      <a:srgbClr val="FF6B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5V, 2-ch, 10A</a:t>
                      </a:r>
                    </a:p>
                  </a:txBody>
                  <a:tcPr>
                    <a:solidFill>
                      <a:srgbClr val="FF6B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—</a:t>
                      </a:r>
                    </a:p>
                  </a:txBody>
                  <a:tcPr>
                    <a:solidFill>
                      <a:srgbClr val="FF6B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≈ ₹3,620</a:t>
                      </a:r>
                    </a:p>
                  </a:txBody>
                  <a:tcPr>
                    <a:solidFill>
                      <a:srgbClr val="FF6B35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457200" y="5349240"/>
            <a:ext cx="11247120" cy="502920"/>
          </a:xfrm>
          <a:prstGeom prst="round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D1B2A"/>
                </a:solidFill>
              </a:defRPr>
            </a:pPr>
            <a:r>
              <a:t>Commercial MPPT+IoT controllers cost ₹8,000–15,000. This prototype achieves 60–75% cost reduction while maintaining comparable functionality.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20040"/>
            <a:ext cx="822960" cy="347472"/>
          </a:xfrm>
          <a:prstGeom prst="round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D1B2A"/>
                </a:solidFill>
              </a:defRPr>
            </a:pPr>
            <a: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0" y="228600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</a:defRPr>
            </a:pPr>
            <a:r>
              <a:t>MPPT Algorithm &amp; Control Logic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77240"/>
            <a:ext cx="11247120" cy="228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379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ADB5BD"/>
                </a:solidFill>
              </a:defRPr>
            </a:pPr>
            <a:r>
              <a:t>CBIT  |  Dept. of Electrical &amp; Electronics 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DB5BD"/>
                </a:solidFill>
              </a:defRPr>
            </a:pPr>
            <a:r>
              <a:t>9</a:t>
            </a:r>
          </a:p>
        </p:txBody>
      </p:sp>
      <p:pic>
        <p:nvPicPr>
          <p:cNvPr id="7" name="Picture 6" descr="mppt_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51560"/>
            <a:ext cx="5029200" cy="53035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486400" y="1051560"/>
            <a:ext cx="6217920" cy="1463040"/>
          </a:xfrm>
          <a:prstGeom prst="roundRect">
            <a:avLst/>
          </a:prstGeom>
          <a:solidFill>
            <a:srgbClr val="1B2838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 bIns="91440"/>
          <a:lstStyle/>
          <a:p>
            <a:pPr algn="ctr">
              <a:spcAft>
                <a:spcPts val="500"/>
              </a:spcAft>
              <a:defRPr sz="1300" b="1">
                <a:solidFill>
                  <a:srgbClr val="00B4D8"/>
                </a:solidFill>
              </a:defRPr>
            </a:pPr>
            <a:r>
              <a:t>P&amp;O Duty-Cycle Update Rules</a:t>
            </a:r>
          </a:p>
          <a:p>
            <a:pPr>
              <a:spcAft>
                <a:spcPts val="200"/>
              </a:spcAft>
              <a:defRPr sz="1200">
                <a:solidFill>
                  <a:srgbClr val="ADB5BD"/>
                </a:solidFill>
              </a:defRPr>
            </a:pPr>
            <a:r>
              <a:t>• D(t+1) = D(t) + ΔD   if  P↑ and V↑</a:t>
            </a:r>
          </a:p>
          <a:p>
            <a:pPr>
              <a:spcAft>
                <a:spcPts val="200"/>
              </a:spcAft>
              <a:defRPr sz="1200">
                <a:solidFill>
                  <a:srgbClr val="ADB5BD"/>
                </a:solidFill>
              </a:defRPr>
            </a:pPr>
            <a:r>
              <a:t>• D(t+1) = D(t) − ΔD   if  P↑ and V↓</a:t>
            </a:r>
          </a:p>
          <a:p>
            <a:pPr>
              <a:spcAft>
                <a:spcPts val="200"/>
              </a:spcAft>
              <a:defRPr sz="1200">
                <a:solidFill>
                  <a:srgbClr val="ADB5BD"/>
                </a:solidFill>
              </a:defRPr>
            </a:pPr>
            <a:r>
              <a:t>• D(t+1) = D(t) − ΔD   if  P↓ and V↑</a:t>
            </a:r>
          </a:p>
          <a:p>
            <a:pPr>
              <a:spcAft>
                <a:spcPts val="200"/>
              </a:spcAft>
              <a:defRPr sz="1200">
                <a:solidFill>
                  <a:srgbClr val="ADB5BD"/>
                </a:solidFill>
              </a:defRPr>
            </a:pPr>
            <a:r>
              <a:t>• D(t+1) = D(t) + ΔD   if  P↓ and V↓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0" y="2651760"/>
            <a:ext cx="6217920" cy="1737360"/>
          </a:xfrm>
          <a:prstGeom prst="roundRect">
            <a:avLst/>
          </a:prstGeom>
          <a:solidFill>
            <a:srgbClr val="1B2838"/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 bIns="91440"/>
          <a:lstStyle/>
          <a:p>
            <a:pPr algn="ctr">
              <a:spcAft>
                <a:spcPts val="500"/>
              </a:spcAft>
              <a:defRPr sz="1300" b="1">
                <a:solidFill>
                  <a:srgbClr val="FF6B35"/>
                </a:solidFill>
              </a:defRPr>
            </a:pPr>
            <a:r>
              <a:t>Boundary &amp; Safety Logic</a:t>
            </a:r>
          </a:p>
          <a:p>
            <a:pPr>
              <a:spcAft>
                <a:spcPts val="200"/>
              </a:spcAft>
              <a:defRPr sz="1100">
                <a:solidFill>
                  <a:srgbClr val="ADB5BD"/>
                </a:solidFill>
              </a:defRPr>
            </a:pPr>
            <a:r>
              <a:t>• If D ≥ 90%: hold at 90% (prevent inductor saturation)</a:t>
            </a:r>
          </a:p>
          <a:p>
            <a:pPr>
              <a:spcAft>
                <a:spcPts val="200"/>
              </a:spcAft>
              <a:defRPr sz="1100">
                <a:solidFill>
                  <a:srgbClr val="ADB5BD"/>
                </a:solidFill>
              </a:defRPr>
            </a:pPr>
            <a:r>
              <a:t>• If D ≤ 10%: hold at 10% (maintain minimum load)</a:t>
            </a:r>
          </a:p>
          <a:p>
            <a:pPr>
              <a:spcAft>
                <a:spcPts val="200"/>
              </a:spcAft>
              <a:defRPr sz="1100">
                <a:solidFill>
                  <a:srgbClr val="ADB5BD"/>
                </a:solidFill>
              </a:defRPr>
            </a:pPr>
            <a:r>
              <a:t>• If V_panel &lt; V_batt + 1V: pause MPPT (insufficient headroom)</a:t>
            </a:r>
          </a:p>
          <a:p>
            <a:pPr>
              <a:spcAft>
                <a:spcPts val="200"/>
              </a:spcAft>
              <a:defRPr sz="1100">
                <a:solidFill>
                  <a:srgbClr val="ADB5BD"/>
                </a:solidFill>
              </a:defRPr>
            </a:pPr>
            <a:r>
              <a:t>• Oscillation mitigation: 3-sample averaging before decision</a:t>
            </a:r>
          </a:p>
          <a:p>
            <a:pPr>
              <a:spcAft>
                <a:spcPts val="200"/>
              </a:spcAft>
              <a:defRPr sz="1100">
                <a:solidFill>
                  <a:srgbClr val="ADB5BD"/>
                </a:solidFill>
              </a:defRPr>
            </a:pPr>
            <a:r>
              <a:t>• Startup: sweep D from 10%→90% to find initial MPP region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0" y="4526280"/>
            <a:ext cx="6217920" cy="1691640"/>
          </a:xfrm>
          <a:prstGeom prst="roundRect">
            <a:avLst/>
          </a:prstGeom>
          <a:solidFill>
            <a:srgbClr val="1A237E"/>
          </a:solidFill>
          <a:ln w="254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100"/>
              </a:spcAft>
              <a:defRPr sz="1100">
                <a:solidFill>
                  <a:srgbClr val="FFD700"/>
                </a:solidFill>
                <a:latin typeface="Consolas"/>
              </a:defRPr>
            </a:pPr>
            <a:r>
              <a:t>P&amp;O Pseudocode:</a:t>
            </a:r>
          </a:p>
          <a:p>
            <a:pPr>
              <a:spcAft>
                <a:spcPts val="100"/>
              </a:spcAft>
              <a:defRPr sz="1100">
                <a:solidFill>
                  <a:srgbClr val="80FF80"/>
                </a:solidFill>
                <a:latin typeface="Consolas"/>
              </a:defRPr>
            </a:pPr>
            <a:r>
              <a:t>  read V_panel, I_panel  →  P_now = V × I</a:t>
            </a:r>
          </a:p>
          <a:p>
            <a:pPr>
              <a:spcAft>
                <a:spcPts val="100"/>
              </a:spcAft>
              <a:defRPr sz="1100">
                <a:solidFill>
                  <a:srgbClr val="80FF80"/>
                </a:solidFill>
                <a:latin typeface="Consolas"/>
              </a:defRPr>
            </a:pPr>
            <a:r>
              <a:t>  if |P_now − P_prev| &lt; threshold: return  // noise filter</a:t>
            </a:r>
          </a:p>
          <a:p>
            <a:pPr>
              <a:spcAft>
                <a:spcPts val="100"/>
              </a:spcAft>
              <a:defRPr sz="1100">
                <a:solidFill>
                  <a:srgbClr val="80FF80"/>
                </a:solidFill>
                <a:latin typeface="Consolas"/>
              </a:defRPr>
            </a:pPr>
            <a:r>
              <a:t>  if P_now &gt; P_prev:</a:t>
            </a:r>
          </a:p>
          <a:p>
            <a:pPr>
              <a:spcAft>
                <a:spcPts val="100"/>
              </a:spcAft>
              <a:defRPr sz="1100">
                <a:solidFill>
                  <a:srgbClr val="80FF80"/>
                </a:solidFill>
                <a:latin typeface="Consolas"/>
              </a:defRPr>
            </a:pPr>
            <a:r>
              <a:t>      if V_now &gt; V_prev: D += ΔD  else: D -= ΔD</a:t>
            </a:r>
          </a:p>
          <a:p>
            <a:pPr>
              <a:spcAft>
                <a:spcPts val="100"/>
              </a:spcAft>
              <a:defRPr sz="1100">
                <a:solidFill>
                  <a:srgbClr val="80FF80"/>
                </a:solidFill>
                <a:latin typeface="Consolas"/>
              </a:defRPr>
            </a:pPr>
            <a:r>
              <a:t>  else:</a:t>
            </a:r>
          </a:p>
          <a:p>
            <a:pPr>
              <a:spcAft>
                <a:spcPts val="100"/>
              </a:spcAft>
              <a:defRPr sz="1100">
                <a:solidFill>
                  <a:srgbClr val="80FF80"/>
                </a:solidFill>
                <a:latin typeface="Consolas"/>
              </a:defRPr>
            </a:pPr>
            <a:r>
              <a:t>      if V_now &gt; V_prev: D -= ΔD  else: D += ΔD</a:t>
            </a:r>
          </a:p>
          <a:p>
            <a:pPr>
              <a:spcAft>
                <a:spcPts val="100"/>
              </a:spcAft>
              <a:defRPr sz="1100">
                <a:solidFill>
                  <a:srgbClr val="80FF80"/>
                </a:solidFill>
                <a:latin typeface="Consolas"/>
              </a:defRPr>
            </a:pPr>
            <a:r>
              <a:t>  constrain D to [10%, 90%]  |  update PWM  |  log data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20040"/>
            <a:ext cx="822960" cy="347472"/>
          </a:xfrm>
          <a:prstGeom prst="round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D1B2A"/>
                </a:solidFill>
              </a:defRPr>
            </a:pPr>
            <a:r>
              <a:t>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0" y="228600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</a:defRPr>
            </a:pPr>
            <a:r>
              <a:t>Energy Management System &amp; Battery Protection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77240"/>
            <a:ext cx="11247120" cy="228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379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ADB5BD"/>
                </a:solidFill>
              </a:defRPr>
            </a:pPr>
            <a:r>
              <a:t>CBIT  |  Dept. of Electrical &amp; Electronics 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DB5BD"/>
                </a:solidFill>
              </a:defRPr>
            </a:pPr>
            <a:r>
              <a:t>10</a:t>
            </a:r>
          </a:p>
        </p:txBody>
      </p:sp>
      <p:pic>
        <p:nvPicPr>
          <p:cNvPr id="7" name="Picture 6" descr="ems_state_mach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6858000" cy="384048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498079" y="1051560"/>
            <a:ext cx="4206240" cy="2011680"/>
          </a:xfrm>
          <a:prstGeom prst="roundRect">
            <a:avLst/>
          </a:prstGeom>
          <a:solidFill>
            <a:srgbClr val="1B2838"/>
          </a:solidFill>
          <a:ln w="1905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 bIns="91440"/>
          <a:lstStyle/>
          <a:p>
            <a:pPr algn="ctr">
              <a:spcAft>
                <a:spcPts val="500"/>
              </a:spcAft>
              <a:defRPr sz="1200" b="1">
                <a:solidFill>
                  <a:srgbClr val="E74C3C"/>
                </a:solidFill>
              </a:defRPr>
            </a:pPr>
            <a:r>
              <a:t>Battery Protection Thresholds</a:t>
            </a:r>
          </a:p>
          <a:p>
            <a:pPr>
              <a:spcAft>
                <a:spcPts val="200"/>
              </a:spcAft>
              <a:defRPr sz="1100">
                <a:solidFill>
                  <a:srgbClr val="ADB5BD"/>
                </a:solidFill>
              </a:defRPr>
            </a:pPr>
            <a:r>
              <a:t>• Battery: 12V/7Ah Sealed Lead-Acid (SLA)</a:t>
            </a:r>
          </a:p>
          <a:p>
            <a:pPr>
              <a:spcAft>
                <a:spcPts val="200"/>
              </a:spcAft>
              <a:defRPr sz="1100">
                <a:solidFill>
                  <a:srgbClr val="ADB5BD"/>
                </a:solidFill>
              </a:defRPr>
            </a:pPr>
            <a:r>
              <a:t>• Deep-discharge cutoff (load OFF): 11.0 V</a:t>
            </a:r>
          </a:p>
          <a:p>
            <a:pPr>
              <a:spcAft>
                <a:spcPts val="200"/>
              </a:spcAft>
              <a:defRPr sz="1100">
                <a:solidFill>
                  <a:srgbClr val="ADB5BD"/>
                </a:solidFill>
              </a:defRPr>
            </a:pPr>
            <a:r>
              <a:t>• Recovery threshold (load ON): 11.8 V</a:t>
            </a:r>
          </a:p>
          <a:p>
            <a:pPr>
              <a:spcAft>
                <a:spcPts val="200"/>
              </a:spcAft>
              <a:defRPr sz="1100">
                <a:solidFill>
                  <a:srgbClr val="ADB5BD"/>
                </a:solidFill>
              </a:defRPr>
            </a:pPr>
            <a:r>
              <a:t>• Hysteresis gap: 0.8 V (prevents relay chattering)</a:t>
            </a:r>
          </a:p>
          <a:p>
            <a:pPr>
              <a:spcAft>
                <a:spcPts val="200"/>
              </a:spcAft>
              <a:defRPr sz="1100">
                <a:solidFill>
                  <a:srgbClr val="ADB5BD"/>
                </a:solidFill>
              </a:defRPr>
            </a:pPr>
            <a:r>
              <a:t>• Overcharge cutoff: 14.4 V (bulk/absorption limit)</a:t>
            </a:r>
          </a:p>
          <a:p>
            <a:pPr>
              <a:spcAft>
                <a:spcPts val="200"/>
              </a:spcAft>
              <a:defRPr sz="1100">
                <a:solidFill>
                  <a:srgbClr val="ADB5BD"/>
                </a:solidFill>
              </a:defRPr>
            </a:pPr>
            <a:r>
              <a:t>• Float voltage: 13.8 V (maintenance charge)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79" y="3200400"/>
            <a:ext cx="4206240" cy="1691640"/>
          </a:xfrm>
          <a:prstGeom prst="roundRect">
            <a:avLst/>
          </a:prstGeom>
          <a:solidFill>
            <a:srgbClr val="1B2838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 bIns="91440"/>
          <a:lstStyle/>
          <a:p>
            <a:pPr algn="ctr">
              <a:spcAft>
                <a:spcPts val="500"/>
              </a:spcAft>
              <a:defRPr sz="1200" b="1">
                <a:solidFill>
                  <a:srgbClr val="2ECC71"/>
                </a:solidFill>
              </a:defRPr>
            </a:pPr>
            <a:r>
              <a:t>Charging Stage Logic</a:t>
            </a:r>
          </a:p>
          <a:p>
            <a:pPr>
              <a:spcAft>
                <a:spcPts val="200"/>
              </a:spcAft>
              <a:defRPr sz="1100">
                <a:solidFill>
                  <a:srgbClr val="ADB5BD"/>
                </a:solidFill>
              </a:defRPr>
            </a:pPr>
            <a:r>
              <a:t>• BULK: MPPT active, max current until V_batt = 14.4V</a:t>
            </a:r>
          </a:p>
          <a:p>
            <a:pPr>
              <a:spcAft>
                <a:spcPts val="200"/>
              </a:spcAft>
              <a:defRPr sz="1100">
                <a:solidFill>
                  <a:srgbClr val="ADB5BD"/>
                </a:solidFill>
              </a:defRPr>
            </a:pPr>
            <a:r>
              <a:t>• ABSORPTION: Hold 14.4V until I_batt drops to C/20 (0.35A)</a:t>
            </a:r>
          </a:p>
          <a:p>
            <a:pPr>
              <a:spcAft>
                <a:spcPts val="200"/>
              </a:spcAft>
              <a:defRPr sz="1100">
                <a:solidFill>
                  <a:srgbClr val="ADB5BD"/>
                </a:solidFill>
              </a:defRPr>
            </a:pPr>
            <a:r>
              <a:t>• FLOAT: Reduce to 13.8V, maintain trickle charge</a:t>
            </a:r>
          </a:p>
          <a:p>
            <a:pPr>
              <a:spcAft>
                <a:spcPts val="200"/>
              </a:spcAft>
              <a:defRPr sz="1100">
                <a:solidFill>
                  <a:srgbClr val="ADB5BD"/>
                </a:solidFill>
              </a:defRPr>
            </a:pPr>
            <a:r>
              <a:t>• LOAD: Disconnect at 11.0V, reconnect at 11.8V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5029200"/>
            <a:ext cx="11247120" cy="457200"/>
          </a:xfrm>
          <a:prstGeom prst="round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D1B2A"/>
                </a:solidFill>
              </a:defRPr>
            </a:pPr>
            <a:r>
              <a:t>Load-shedding accuracy target: within ±0.1 V  |  Response time: &lt; 1 second  |  Max discharge: 1.05A (C/6.7 rate)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20040"/>
            <a:ext cx="822960" cy="347472"/>
          </a:xfrm>
          <a:prstGeom prst="round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D1B2A"/>
                </a:solidFill>
              </a:defRPr>
            </a:pPr>
            <a:r>
              <a:t>010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0" y="228600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</a:defRPr>
            </a:pPr>
            <a:r>
              <a:t>IoT &amp; Cloud Dashboard Design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77240"/>
            <a:ext cx="11247120" cy="228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379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ADB5BD"/>
                </a:solidFill>
              </a:defRPr>
            </a:pPr>
            <a:r>
              <a:t>CBIT  |  Dept. of Electrical &amp; Electronics 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DB5BD"/>
                </a:solidFill>
              </a:defRPr>
            </a:pPr>
            <a:r>
              <a:t>11</a:t>
            </a:r>
          </a:p>
        </p:txBody>
      </p:sp>
      <p:pic>
        <p:nvPicPr>
          <p:cNvPr id="7" name="Picture 6" descr="iot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6400800" cy="36576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040880" y="1051560"/>
            <a:ext cx="4663440" cy="2194560"/>
          </a:xfrm>
          <a:prstGeom prst="roundRect">
            <a:avLst/>
          </a:prstGeom>
          <a:solidFill>
            <a:srgbClr val="1B2838"/>
          </a:solidFill>
          <a:ln w="1905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 bIns="91440"/>
          <a:lstStyle/>
          <a:p>
            <a:pPr algn="ctr">
              <a:spcAft>
                <a:spcPts val="500"/>
              </a:spcAft>
              <a:defRPr sz="1200" b="1">
                <a:solidFill>
                  <a:srgbClr val="3498DB"/>
                </a:solidFill>
              </a:defRPr>
            </a:pPr>
            <a:r>
              <a:t>Telemetry Data Fields</a:t>
            </a:r>
          </a:p>
          <a:p>
            <a:pPr>
              <a:spcAft>
                <a:spcPts val="200"/>
              </a:spcAft>
              <a:defRPr sz="1100">
                <a:solidFill>
                  <a:srgbClr val="ADB5BD"/>
                </a:solidFill>
              </a:defRPr>
            </a:pPr>
            <a:r>
              <a:t>• V_panel (V), I_panel (A), P_panel (W)</a:t>
            </a:r>
          </a:p>
          <a:p>
            <a:pPr>
              <a:spcAft>
                <a:spcPts val="200"/>
              </a:spcAft>
              <a:defRPr sz="1100">
                <a:solidFill>
                  <a:srgbClr val="ADB5BD"/>
                </a:solidFill>
              </a:defRPr>
            </a:pPr>
            <a:r>
              <a:t>• V_batt (V), I_batt (A), P_batt (W)</a:t>
            </a:r>
          </a:p>
          <a:p>
            <a:pPr>
              <a:spcAft>
                <a:spcPts val="200"/>
              </a:spcAft>
              <a:defRPr sz="1100">
                <a:solidFill>
                  <a:srgbClr val="ADB5BD"/>
                </a:solidFill>
              </a:defRPr>
            </a:pPr>
            <a:r>
              <a:t>• SOC (%), Duty (%), Load_Status (ON/OFF)</a:t>
            </a:r>
          </a:p>
          <a:p>
            <a:pPr>
              <a:spcAft>
                <a:spcPts val="200"/>
              </a:spcAft>
              <a:defRPr sz="1100">
                <a:solidFill>
                  <a:srgbClr val="ADB5BD"/>
                </a:solidFill>
              </a:defRPr>
            </a:pPr>
            <a:r>
              <a:t>• System_State: NORMAL / LOW_BATT / OVERCHARGE / FAULT</a:t>
            </a:r>
          </a:p>
          <a:p>
            <a:pPr>
              <a:spcAft>
                <a:spcPts val="200"/>
              </a:spcAft>
              <a:defRPr sz="1100">
                <a:solidFill>
                  <a:srgbClr val="ADB5BD"/>
                </a:solidFill>
              </a:defRPr>
            </a:pPr>
            <a:r>
              <a:t>• Update interval: 10s (decoupled from 100ms MPPT loop)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040880" y="3383280"/>
            <a:ext cx="4663440" cy="1554480"/>
          </a:xfrm>
          <a:prstGeom prst="roundRect">
            <a:avLst/>
          </a:prstGeom>
          <a:solidFill>
            <a:srgbClr val="1B2838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 bIns="91440"/>
          <a:lstStyle/>
          <a:p>
            <a:pPr algn="ctr">
              <a:spcAft>
                <a:spcPts val="500"/>
              </a:spcAft>
              <a:defRPr sz="1200" b="1">
                <a:solidFill>
                  <a:srgbClr val="00B4D8"/>
                </a:solidFill>
              </a:defRPr>
            </a:pPr>
            <a:r>
              <a:t>Security &amp; Connectivity</a:t>
            </a:r>
          </a:p>
          <a:p>
            <a:pPr>
              <a:spcAft>
                <a:spcPts val="200"/>
              </a:spcAft>
              <a:defRPr sz="1100">
                <a:solidFill>
                  <a:srgbClr val="ADB5BD"/>
                </a:solidFill>
              </a:defRPr>
            </a:pPr>
            <a:r>
              <a:t>• TLS 1.2 encryption for all cloud communications</a:t>
            </a:r>
          </a:p>
          <a:p>
            <a:pPr>
              <a:spcAft>
                <a:spcPts val="200"/>
              </a:spcAft>
              <a:defRPr sz="1100">
                <a:solidFill>
                  <a:srgbClr val="ADB5BD"/>
                </a:solidFill>
              </a:defRPr>
            </a:pPr>
            <a:r>
              <a:t>• API keys in secrets.h (not hardcoded in main sketch)</a:t>
            </a:r>
          </a:p>
          <a:p>
            <a:pPr>
              <a:spcAft>
                <a:spcPts val="200"/>
              </a:spcAft>
              <a:defRPr sz="1100">
                <a:solidFill>
                  <a:srgbClr val="ADB5BD"/>
                </a:solidFill>
              </a:defRPr>
            </a:pPr>
            <a:r>
              <a:t>• WiFiManager captive portal for credentials</a:t>
            </a:r>
          </a:p>
          <a:p>
            <a:pPr>
              <a:spcAft>
                <a:spcPts val="200"/>
              </a:spcAft>
              <a:defRPr sz="1100">
                <a:solidFill>
                  <a:srgbClr val="ADB5BD"/>
                </a:solidFill>
              </a:defRPr>
            </a:pPr>
            <a:r>
              <a:t>• Auto-reconnect: retry every 30s with exponential backoff</a:t>
            </a:r>
          </a:p>
          <a:p>
            <a:pPr>
              <a:spcAft>
                <a:spcPts val="200"/>
              </a:spcAft>
              <a:defRPr sz="1100">
                <a:solidFill>
                  <a:srgbClr val="ADB5BD"/>
                </a:solidFill>
              </a:defRPr>
            </a:pPr>
            <a:r>
              <a:t>• Local 16×2 LCD fallback when cloud link drops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5029200"/>
            <a:ext cx="11247120" cy="457200"/>
          </a:xfrm>
          <a:prstGeom prst="round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D1B2A"/>
                </a:solidFill>
              </a:defRPr>
            </a:pPr>
            <a:r>
              <a:t>Alert triggers: V_batt &lt; 11.2V  |  V_batt &gt; 14.5V  |  I_batt &gt; 2A  |  WiFi disconnect &gt; 5 min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20040"/>
            <a:ext cx="822960" cy="347472"/>
          </a:xfrm>
          <a:prstGeom prst="round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D1B2A"/>
                </a:solidFill>
              </a:defRPr>
            </a:pPr>
            <a:r>
              <a:t>011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0" y="228600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</a:defRPr>
            </a:pPr>
            <a:r>
              <a:t>Testing &amp; Validation Plan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77240"/>
            <a:ext cx="11247120" cy="228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379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ADB5BD"/>
                </a:solidFill>
              </a:defRPr>
            </a:pPr>
            <a:r>
              <a:t>CBIT  |  Dept. of Electrical &amp; Electronics 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DB5BD"/>
                </a:solidFill>
              </a:defRPr>
            </a:pPr>
            <a: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51560"/>
            <a:ext cx="5486400" cy="2377440"/>
          </a:xfrm>
          <a:prstGeom prst="roundRect">
            <a:avLst/>
          </a:prstGeom>
          <a:solidFill>
            <a:srgbClr val="1B2838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 bIns="91440"/>
          <a:lstStyle/>
          <a:p>
            <a:pPr algn="ctr">
              <a:spcAft>
                <a:spcPts val="500"/>
              </a:spcAft>
              <a:defRPr sz="1300" b="1">
                <a:solidFill>
                  <a:srgbClr val="00B4D8"/>
                </a:solidFill>
              </a:defRPr>
            </a:pPr>
            <a:r>
              <a:t>Baseline Test Procedure</a:t>
            </a:r>
          </a:p>
          <a:p>
            <a:pPr>
              <a:spcAft>
                <a:spcPts val="200"/>
              </a:spcAft>
              <a:defRPr sz="1100">
                <a:solidFill>
                  <a:srgbClr val="ADB5BD"/>
                </a:solidFill>
              </a:defRPr>
            </a:pPr>
            <a:r>
              <a:t>• Test 1: Direct-connect baseline — panel directly to battery</a:t>
            </a:r>
          </a:p>
          <a:p>
            <a:pPr>
              <a:spcAft>
                <a:spcPts val="200"/>
              </a:spcAft>
              <a:defRPr sz="1100">
                <a:solidFill>
                  <a:srgbClr val="ADB5BD"/>
                </a:solidFill>
              </a:defRPr>
            </a:pPr>
            <a:r>
              <a:t>• Test 2: MPPT-enabled — panel through buck converter with P&amp;O</a:t>
            </a:r>
          </a:p>
          <a:p>
            <a:pPr>
              <a:spcAft>
                <a:spcPts val="200"/>
              </a:spcAft>
              <a:defRPr sz="1100">
                <a:solidFill>
                  <a:srgbClr val="ADB5BD"/>
                </a:solidFill>
              </a:defRPr>
            </a:pPr>
            <a:r>
              <a:t>• Same panel, same battery, same load, same time of day</a:t>
            </a:r>
          </a:p>
          <a:p>
            <a:pPr>
              <a:spcAft>
                <a:spcPts val="200"/>
              </a:spcAft>
              <a:defRPr sz="1100">
                <a:solidFill>
                  <a:srgbClr val="ADB5BD"/>
                </a:solidFill>
              </a:defRPr>
            </a:pPr>
            <a:r>
              <a:t>• Measure V_panel, I_panel, V_batt, I_batt every 10s for 4h</a:t>
            </a:r>
          </a:p>
          <a:p>
            <a:pPr>
              <a:spcAft>
                <a:spcPts val="200"/>
              </a:spcAft>
              <a:defRPr sz="1100">
                <a:solidFill>
                  <a:srgbClr val="ADB5BD"/>
                </a:solidFill>
              </a:defRPr>
            </a:pPr>
            <a:r>
              <a:t>• Irradiance reference: smartphone lux meter app</a:t>
            </a:r>
          </a:p>
          <a:p>
            <a:pPr>
              <a:spcAft>
                <a:spcPts val="200"/>
              </a:spcAft>
              <a:defRPr sz="1100">
                <a:solidFill>
                  <a:srgbClr val="ADB5BD"/>
                </a:solidFill>
              </a:defRPr>
            </a:pPr>
            <a:r>
              <a:t>• Energy harvested = ∫ P_batt dt over test duration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051560"/>
            <a:ext cx="5486400" cy="2377440"/>
          </a:xfrm>
          <a:prstGeom prst="roundRect">
            <a:avLst/>
          </a:prstGeom>
          <a:solidFill>
            <a:srgbClr val="1B2838"/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 bIns="91440"/>
          <a:lstStyle/>
          <a:p>
            <a:pPr algn="ctr">
              <a:spcAft>
                <a:spcPts val="500"/>
              </a:spcAft>
              <a:defRPr sz="1300" b="1">
                <a:solidFill>
                  <a:srgbClr val="FF6B35"/>
                </a:solidFill>
              </a:defRPr>
            </a:pPr>
            <a:r>
              <a:t>Test Scenarios</a:t>
            </a:r>
          </a:p>
          <a:p>
            <a:pPr>
              <a:spcAft>
                <a:spcPts val="200"/>
              </a:spcAft>
              <a:defRPr sz="1100">
                <a:solidFill>
                  <a:srgbClr val="ADB5BD"/>
                </a:solidFill>
              </a:defRPr>
            </a:pPr>
            <a:r>
              <a:t>• Steady-state: Full sun, constant irradiance → tracking stability</a:t>
            </a:r>
          </a:p>
          <a:p>
            <a:pPr>
              <a:spcAft>
                <a:spcPts val="200"/>
              </a:spcAft>
              <a:defRPr sz="1100">
                <a:solidFill>
                  <a:srgbClr val="ADB5BD"/>
                </a:solidFill>
              </a:defRPr>
            </a:pPr>
            <a:r>
              <a:t>• Step change: Panel partially shaded → recovery time &lt; 5s</a:t>
            </a:r>
          </a:p>
          <a:p>
            <a:pPr>
              <a:spcAft>
                <a:spcPts val="200"/>
              </a:spcAft>
              <a:defRPr sz="1100">
                <a:solidFill>
                  <a:srgbClr val="ADB5BD"/>
                </a:solidFill>
              </a:defRPr>
            </a:pPr>
            <a:r>
              <a:t>• Cloud transient: Rapid irradiance drop/rise → oscillation check</a:t>
            </a:r>
          </a:p>
          <a:p>
            <a:pPr>
              <a:spcAft>
                <a:spcPts val="200"/>
              </a:spcAft>
              <a:defRPr sz="1100">
                <a:solidFill>
                  <a:srgbClr val="ADB5BD"/>
                </a:solidFill>
              </a:defRPr>
            </a:pPr>
            <a:r>
              <a:t>• Morning sweep: Sunrise to noon → P-V curve verification</a:t>
            </a:r>
          </a:p>
          <a:p>
            <a:pPr>
              <a:spcAft>
                <a:spcPts val="200"/>
              </a:spcAft>
              <a:defRPr sz="1100">
                <a:solidFill>
                  <a:srgbClr val="ADB5BD"/>
                </a:solidFill>
              </a:defRPr>
            </a:pPr>
            <a:r>
              <a:t>• Load transient: Load switched ON/OFF → voltage regulation</a:t>
            </a:r>
          </a:p>
          <a:p>
            <a:pPr>
              <a:spcAft>
                <a:spcPts val="200"/>
              </a:spcAft>
              <a:defRPr sz="1100">
                <a:solidFill>
                  <a:srgbClr val="ADB5BD"/>
                </a:solidFill>
              </a:defRPr>
            </a:pPr>
            <a:r>
              <a:t>• Deep-discharge test: Battery drained to 10.5V → cutoff validation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566160"/>
            <a:ext cx="5486400" cy="1645920"/>
          </a:xfrm>
          <a:prstGeom prst="roundRect">
            <a:avLst/>
          </a:prstGeom>
          <a:solidFill>
            <a:srgbClr val="1B2838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 bIns="91440"/>
          <a:lstStyle/>
          <a:p>
            <a:pPr algn="ctr">
              <a:spcAft>
                <a:spcPts val="500"/>
              </a:spcAft>
              <a:defRPr sz="1300" b="1">
                <a:solidFill>
                  <a:srgbClr val="2ECC71"/>
                </a:solidFill>
              </a:defRPr>
            </a:pPr>
            <a:r>
              <a:t>Test Equipment</a:t>
            </a:r>
          </a:p>
          <a:p>
            <a:pPr>
              <a:spcAft>
                <a:spcPts val="200"/>
              </a:spcAft>
              <a:defRPr sz="1100">
                <a:solidFill>
                  <a:srgbClr val="ADB5BD"/>
                </a:solidFill>
              </a:defRPr>
            </a:pPr>
            <a:r>
              <a:t>• Digital multimeter (Fluke/UNI-T) for V/I verification</a:t>
            </a:r>
          </a:p>
          <a:p>
            <a:pPr>
              <a:spcAft>
                <a:spcPts val="200"/>
              </a:spcAft>
              <a:defRPr sz="1100">
                <a:solidFill>
                  <a:srgbClr val="ADB5BD"/>
                </a:solidFill>
              </a:defRPr>
            </a:pPr>
            <a:r>
              <a:t>• Oscilloscope for PWM waveform &amp; ripple measurement</a:t>
            </a:r>
          </a:p>
          <a:p>
            <a:pPr>
              <a:spcAft>
                <a:spcPts val="200"/>
              </a:spcAft>
              <a:defRPr sz="1100">
                <a:solidFill>
                  <a:srgbClr val="ADB5BD"/>
                </a:solidFill>
              </a:defRPr>
            </a:pPr>
            <a:r>
              <a:t>• DC electronic load (or 10Ω/20W resistor bank)</a:t>
            </a:r>
          </a:p>
          <a:p>
            <a:pPr>
              <a:spcAft>
                <a:spcPts val="200"/>
              </a:spcAft>
              <a:defRPr sz="1100">
                <a:solidFill>
                  <a:srgbClr val="ADB5BD"/>
                </a:solidFill>
              </a:defRPr>
            </a:pPr>
            <a:r>
              <a:t>• Smartphone lux meter app for irradiance logging</a:t>
            </a:r>
          </a:p>
          <a:p>
            <a:pPr>
              <a:spcAft>
                <a:spcPts val="200"/>
              </a:spcAft>
              <a:defRPr sz="1100">
                <a:solidFill>
                  <a:srgbClr val="ADB5BD"/>
                </a:solidFill>
              </a:defRPr>
            </a:pPr>
            <a:r>
              <a:t>• Python serial logger for automated CSV export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566160"/>
            <a:ext cx="5486400" cy="1645920"/>
          </a:xfrm>
          <a:prstGeom prst="roundRect">
            <a:avLst/>
          </a:prstGeom>
          <a:solidFill>
            <a:srgbClr val="1B2838"/>
          </a:solidFill>
          <a:ln w="1905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 bIns="91440"/>
          <a:lstStyle/>
          <a:p>
            <a:pPr algn="ctr">
              <a:spcAft>
                <a:spcPts val="500"/>
              </a:spcAft>
              <a:defRPr sz="1300" b="1">
                <a:solidFill>
                  <a:srgbClr val="3498DB"/>
                </a:solidFill>
              </a:defRPr>
            </a:pPr>
            <a:r>
              <a:t>Efficiency Calculation</a:t>
            </a:r>
          </a:p>
          <a:p>
            <a:pPr>
              <a:spcAft>
                <a:spcPts val="200"/>
              </a:spcAft>
              <a:defRPr sz="1100">
                <a:solidFill>
                  <a:srgbClr val="ADB5BD"/>
                </a:solidFill>
              </a:defRPr>
            </a:pPr>
            <a:r>
              <a:t>• η_buck = P_out / P_in × 100%  (converter efficiency)</a:t>
            </a:r>
          </a:p>
          <a:p>
            <a:pPr>
              <a:spcAft>
                <a:spcPts val="200"/>
              </a:spcAft>
              <a:defRPr sz="1100">
                <a:solidFill>
                  <a:srgbClr val="ADB5BD"/>
                </a:solidFill>
              </a:defRPr>
            </a:pPr>
            <a:r>
              <a:t>• η_tracking = P_panel_actual / P_panel_max × 100%</a:t>
            </a:r>
          </a:p>
          <a:p>
            <a:pPr>
              <a:spcAft>
                <a:spcPts val="200"/>
              </a:spcAft>
              <a:defRPr sz="1100">
                <a:solidFill>
                  <a:srgbClr val="ADB5BD"/>
                </a:solidFill>
              </a:defRPr>
            </a:pPr>
            <a:r>
              <a:t>• η_system = η_buck × η_tracking × 100%</a:t>
            </a:r>
          </a:p>
          <a:p>
            <a:pPr>
              <a:spcAft>
                <a:spcPts val="200"/>
              </a:spcAft>
              <a:defRPr sz="1100">
                <a:solidFill>
                  <a:srgbClr val="ADB5BD"/>
                </a:solidFill>
              </a:defRPr>
            </a:pPr>
            <a:r>
              <a:t>• Target: η_tracking ≥ 85%, η_system ≥ 75%</a:t>
            </a:r>
          </a:p>
          <a:p>
            <a:pPr>
              <a:spcAft>
                <a:spcPts val="200"/>
              </a:spcAft>
              <a:defRPr sz="1100">
                <a:solidFill>
                  <a:srgbClr val="ADB5BD"/>
                </a:solidFill>
              </a:defRPr>
            </a:pPr>
            <a:r>
              <a:t>• Data points: ≥ 200 per test, mean ± std dev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349240"/>
            <a:ext cx="11247120" cy="457200"/>
          </a:xfrm>
          <a:prstGeom prst="round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D1B2A"/>
                </a:solidFill>
              </a:defRPr>
            </a:pPr>
            <a:r>
              <a:t>48-hour continuous run test  |  All EMS states verified  |  Statistical significance: p &lt; 0.05 for efficiency claims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20040"/>
            <a:ext cx="822960" cy="347472"/>
          </a:xfrm>
          <a:prstGeom prst="round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D1B2A"/>
                </a:solidFill>
              </a:defRPr>
            </a:pPr>
            <a:r>
              <a:t>012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0" y="228600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</a:defRPr>
            </a:pPr>
            <a:r>
              <a:t>Safety &amp; Reliability Measures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77240"/>
            <a:ext cx="11247120" cy="228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379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ADB5BD"/>
                </a:solidFill>
              </a:defRPr>
            </a:pPr>
            <a:r>
              <a:t>CBIT  |  Dept. of Electrical &amp; Electronics 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DB5BD"/>
                </a:solidFill>
              </a:defRPr>
            </a:pPr>
            <a:r>
              <a:t>13</a:t>
            </a:r>
          </a:p>
        </p:txBody>
      </p:sp>
      <p:pic>
        <p:nvPicPr>
          <p:cNvPr id="7" name="Picture 6" descr="safety_lay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6400800" cy="36576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040880" y="1051560"/>
            <a:ext cx="4663440" cy="1828800"/>
          </a:xfrm>
          <a:prstGeom prst="roundRect">
            <a:avLst/>
          </a:prstGeom>
          <a:solidFill>
            <a:srgbClr val="1B2838"/>
          </a:solidFill>
          <a:ln w="1905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 bIns="91440"/>
          <a:lstStyle/>
          <a:p>
            <a:pPr algn="ctr">
              <a:spcAft>
                <a:spcPts val="500"/>
              </a:spcAft>
              <a:defRPr sz="1200" b="1">
                <a:solidFill>
                  <a:srgbClr val="E74C3C"/>
                </a:solidFill>
              </a:defRPr>
            </a:pPr>
            <a:r>
              <a:t>Electrical Protection</a:t>
            </a:r>
          </a:p>
          <a:p>
            <a:pPr>
              <a:spcAft>
                <a:spcPts val="200"/>
              </a:spcAft>
              <a:defRPr sz="1100">
                <a:solidFill>
                  <a:srgbClr val="ADB5BD"/>
                </a:solidFill>
              </a:defRPr>
            </a:pPr>
            <a:r>
              <a:t>• Fuses: 5A fast-blow (battery), 3A (panel line)</a:t>
            </a:r>
          </a:p>
          <a:p>
            <a:pPr>
              <a:spcAft>
                <a:spcPts val="200"/>
              </a:spcAft>
              <a:defRPr sz="1100">
                <a:solidFill>
                  <a:srgbClr val="ADB5BD"/>
                </a:solidFill>
              </a:defRPr>
            </a:pPr>
            <a:r>
              <a:t>• Reverse polarity: Schottky diode 1N5822 on panel input</a:t>
            </a:r>
          </a:p>
          <a:p>
            <a:pPr>
              <a:spcAft>
                <a:spcPts val="200"/>
              </a:spcAft>
              <a:defRPr sz="1100">
                <a:solidFill>
                  <a:srgbClr val="ADB5BD"/>
                </a:solidFill>
              </a:defRPr>
            </a:pPr>
            <a:r>
              <a:t>• TVS diode P6KE15A across MOSFET drain-source</a:t>
            </a:r>
          </a:p>
          <a:p>
            <a:pPr>
              <a:spcAft>
                <a:spcPts val="200"/>
              </a:spcAft>
              <a:defRPr sz="1100">
                <a:solidFill>
                  <a:srgbClr val="ADB5BD"/>
                </a:solidFill>
              </a:defRPr>
            </a:pPr>
            <a:r>
              <a:t>• Gate protection: 15V Zener on TLP250 output</a:t>
            </a:r>
          </a:p>
          <a:p>
            <a:pPr>
              <a:spcAft>
                <a:spcPts val="200"/>
              </a:spcAft>
              <a:defRPr sz="1100">
                <a:solidFill>
                  <a:srgbClr val="ADB5BD"/>
                </a:solidFill>
              </a:defRPr>
            </a:pPr>
            <a:r>
              <a:t>• Overcurrent: Software monitor + hardware fuse dual protection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040880" y="3017520"/>
            <a:ext cx="4663440" cy="1691640"/>
          </a:xfrm>
          <a:prstGeom prst="roundRect">
            <a:avLst/>
          </a:prstGeom>
          <a:solidFill>
            <a:srgbClr val="1B2838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 bIns="91440"/>
          <a:lstStyle/>
          <a:p>
            <a:pPr algn="ctr">
              <a:spcAft>
                <a:spcPts val="500"/>
              </a:spcAft>
              <a:defRPr sz="1200" b="1">
                <a:solidFill>
                  <a:srgbClr val="2ECC71"/>
                </a:solidFill>
              </a:defRPr>
            </a:pPr>
            <a:r>
              <a:t>Fail-Safe Design</a:t>
            </a:r>
          </a:p>
          <a:p>
            <a:pPr>
              <a:spcAft>
                <a:spcPts val="200"/>
              </a:spcAft>
              <a:defRPr sz="1100">
                <a:solidFill>
                  <a:srgbClr val="ADB5BD"/>
                </a:solidFill>
              </a:defRPr>
            </a:pPr>
            <a:r>
              <a:t>• Arduino crash: Watchdog timer (8s) resets, relay defaults OPEN</a:t>
            </a:r>
          </a:p>
          <a:p>
            <a:pPr>
              <a:spcAft>
                <a:spcPts val="200"/>
              </a:spcAft>
              <a:defRPr sz="1100">
                <a:solidFill>
                  <a:srgbClr val="ADB5BD"/>
                </a:solidFill>
              </a:defRPr>
            </a:pPr>
            <a:r>
              <a:t>• WiFi drop: Local LCD continues; MPPT &amp; EMS run autonomously</a:t>
            </a:r>
          </a:p>
          <a:p>
            <a:pPr>
              <a:spcAft>
                <a:spcPts val="200"/>
              </a:spcAft>
              <a:defRPr sz="1100">
                <a:solidFill>
                  <a:srgbClr val="ADB5BD"/>
                </a:solidFill>
              </a:defRPr>
            </a:pPr>
            <a:r>
              <a:t>• INA219 failure: Fallback to analog voltage dividers</a:t>
            </a:r>
          </a:p>
          <a:p>
            <a:pPr>
              <a:spcAft>
                <a:spcPts val="200"/>
              </a:spcAft>
              <a:defRPr sz="1100">
                <a:solidFill>
                  <a:srgbClr val="ADB5BD"/>
                </a:solidFill>
              </a:defRPr>
            </a:pPr>
            <a:r>
              <a:t>• MOSFET short: Fuse blows, battery protected from overcharge</a:t>
            </a:r>
          </a:p>
          <a:p>
            <a:pPr>
              <a:spcAft>
                <a:spcPts val="200"/>
              </a:spcAft>
              <a:defRPr sz="1100">
                <a:solidFill>
                  <a:srgbClr val="ADB5BD"/>
                </a:solidFill>
              </a:defRPr>
            </a:pPr>
            <a:r>
              <a:t>• Startup: Self-test → sensor check → relay OFF → MPPT ramp → load connect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892040"/>
            <a:ext cx="11247120" cy="457200"/>
          </a:xfrm>
          <a:prstGeom prst="round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D1B2A"/>
                </a:solidFill>
              </a:defRPr>
            </a:pPr>
            <a:r>
              <a:t>Fail-safe priority: Battery protection &gt; Load protection &gt; Telemetry &gt; Cloud link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20040"/>
            <a:ext cx="822960" cy="347472"/>
          </a:xfrm>
          <a:prstGeom prst="round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D1B2A"/>
                </a:solidFill>
              </a:defRPr>
            </a:pPr>
            <a:r>
              <a:t>013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0" y="228600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</a:defRPr>
            </a:pPr>
            <a:r>
              <a:t>Expected Outcomes &amp; Performance Targets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77240"/>
            <a:ext cx="11247120" cy="228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379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ADB5BD"/>
                </a:solidFill>
              </a:defRPr>
            </a:pPr>
            <a:r>
              <a:t>CBIT  |  Dept. of Electrical &amp; Electronics 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DB5BD"/>
                </a:solidFill>
              </a:defRPr>
            </a:pPr>
            <a:r>
              <a:t>14</a:t>
            </a:r>
          </a:p>
        </p:txBody>
      </p:sp>
      <p:pic>
        <p:nvPicPr>
          <p:cNvPr id="7" name="Picture 6" descr="efficiency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5029200" cy="25603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760720" y="1051560"/>
            <a:ext cx="1554480" cy="1005840"/>
          </a:xfrm>
          <a:prstGeom prst="roundRect">
            <a:avLst/>
          </a:prstGeom>
          <a:solidFill>
            <a:srgbClr val="1B2838"/>
          </a:solidFill>
          <a:ln w="254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/>
          <a:lstStyle/>
          <a:p>
            <a:pPr algn="ctr">
              <a:defRPr sz="2600" b="1">
                <a:solidFill>
                  <a:srgbClr val="00B4D8"/>
                </a:solidFill>
              </a:defRPr>
            </a:pPr>
            <a:r>
              <a:t>≥85%</a:t>
            </a:r>
          </a:p>
          <a:p>
            <a:pPr algn="ctr">
              <a:defRPr sz="1000">
                <a:solidFill>
                  <a:srgbClr val="ADB5BD"/>
                </a:solidFill>
              </a:defRPr>
            </a:pPr>
            <a:r>
              <a:t>Tracking</a:t>
            </a:r>
            <a:br/>
            <a:r>
              <a:t>Efficiency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79" y="1051560"/>
            <a:ext cx="1554480" cy="1005840"/>
          </a:xfrm>
          <a:prstGeom prst="roundRect">
            <a:avLst/>
          </a:prstGeom>
          <a:solidFill>
            <a:srgbClr val="1B2838"/>
          </a:solidFill>
          <a:ln w="254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/>
          <a:lstStyle/>
          <a:p>
            <a:pPr algn="ctr">
              <a:defRPr sz="2600" b="1">
                <a:solidFill>
                  <a:srgbClr val="FF6B35"/>
                </a:solidFill>
              </a:defRPr>
            </a:pPr>
            <a:r>
              <a:t>&lt;5s</a:t>
            </a:r>
          </a:p>
          <a:p>
            <a:pPr algn="ctr">
              <a:defRPr sz="1000">
                <a:solidFill>
                  <a:srgbClr val="ADB5BD"/>
                </a:solidFill>
              </a:defRPr>
            </a:pPr>
            <a:r>
              <a:t>Response</a:t>
            </a:r>
            <a:br/>
            <a:r>
              <a:t>Time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235440" y="1051560"/>
            <a:ext cx="1554480" cy="1005840"/>
          </a:xfrm>
          <a:prstGeom prst="roundRect">
            <a:avLst/>
          </a:prstGeom>
          <a:solidFill>
            <a:srgbClr val="1B2838"/>
          </a:solidFill>
          <a:ln w="254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/>
          <a:lstStyle/>
          <a:p>
            <a:pPr algn="ctr">
              <a:defRPr sz="2600" b="1">
                <a:solidFill>
                  <a:srgbClr val="2ECC71"/>
                </a:solidFill>
              </a:defRPr>
            </a:pPr>
            <a:r>
              <a:t>±0.1V</a:t>
            </a:r>
          </a:p>
          <a:p>
            <a:pPr algn="ctr">
              <a:defRPr sz="1000">
                <a:solidFill>
                  <a:srgbClr val="ADB5BD"/>
                </a:solidFill>
              </a:defRPr>
            </a:pPr>
            <a:r>
              <a:t>Load-Shedding</a:t>
            </a:r>
            <a:br/>
            <a:r>
              <a:t>Accuracy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760720" y="2194560"/>
            <a:ext cx="1554480" cy="1005840"/>
          </a:xfrm>
          <a:prstGeom prst="roundRect">
            <a:avLst/>
          </a:prstGeom>
          <a:solidFill>
            <a:srgbClr val="1B2838"/>
          </a:solidFill>
          <a:ln w="254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/>
          <a:lstStyle/>
          <a:p>
            <a:pPr algn="ctr">
              <a:defRPr sz="2600" b="1">
                <a:solidFill>
                  <a:srgbClr val="3498DB"/>
                </a:solidFill>
              </a:defRPr>
            </a:pPr>
            <a:r>
              <a:t>&lt;10s</a:t>
            </a:r>
          </a:p>
          <a:p>
            <a:pPr algn="ctr">
              <a:defRPr sz="1000">
                <a:solidFill>
                  <a:srgbClr val="ADB5BD"/>
                </a:solidFill>
              </a:defRPr>
            </a:pPr>
            <a:r>
              <a:t>IoT Update</a:t>
            </a:r>
            <a:br/>
            <a:r>
              <a:t>Latency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79" y="2194560"/>
            <a:ext cx="1554480" cy="1005840"/>
          </a:xfrm>
          <a:prstGeom prst="roundRect">
            <a:avLst/>
          </a:prstGeom>
          <a:solidFill>
            <a:srgbClr val="1B2838"/>
          </a:solidFill>
          <a:ln w="254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/>
          <a:lstStyle/>
          <a:p>
            <a:pPr algn="ctr">
              <a:defRPr sz="2600" b="1">
                <a:solidFill>
                  <a:srgbClr val="9B59B6"/>
                </a:solidFill>
              </a:defRPr>
            </a:pPr>
            <a:r>
              <a:t>≥75%</a:t>
            </a:r>
          </a:p>
          <a:p>
            <a:pPr algn="ctr">
              <a:defRPr sz="1000">
                <a:solidFill>
                  <a:srgbClr val="ADB5BD"/>
                </a:solidFill>
              </a:defRPr>
            </a:pPr>
            <a:r>
              <a:t>System</a:t>
            </a:r>
            <a:br/>
            <a:r>
              <a:t>Overall η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235440" y="2194560"/>
            <a:ext cx="1554480" cy="1005840"/>
          </a:xfrm>
          <a:prstGeom prst="roundRect">
            <a:avLst/>
          </a:prstGeom>
          <a:solidFill>
            <a:srgbClr val="1B2838"/>
          </a:solidFill>
          <a:ln w="254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/>
          <a:lstStyle/>
          <a:p>
            <a:pPr algn="ctr">
              <a:defRPr sz="2600" b="1">
                <a:solidFill>
                  <a:srgbClr val="E74C3C"/>
                </a:solidFill>
              </a:defRPr>
            </a:pPr>
            <a:r>
              <a:t>48h</a:t>
            </a:r>
          </a:p>
          <a:p>
            <a:pPr algn="ctr">
              <a:defRPr sz="1000">
                <a:solidFill>
                  <a:srgbClr val="ADB5BD"/>
                </a:solidFill>
              </a:defRPr>
            </a:pPr>
            <a:r>
              <a:t>Stress</a:t>
            </a:r>
            <a:br/>
            <a:r>
              <a:t>Test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760720" y="3337560"/>
            <a:ext cx="5029200" cy="1554480"/>
          </a:xfrm>
          <a:prstGeom prst="roundRect">
            <a:avLst/>
          </a:prstGeom>
          <a:solidFill>
            <a:srgbClr val="1B2838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 bIns="91440"/>
          <a:lstStyle/>
          <a:p>
            <a:pPr algn="ctr">
              <a:spcAft>
                <a:spcPts val="500"/>
              </a:spcAft>
              <a:defRPr sz="1200" b="1">
                <a:solidFill>
                  <a:srgbClr val="00B4D8"/>
                </a:solidFill>
              </a:defRPr>
            </a:pPr>
            <a:r>
              <a:t>Expected Observations</a:t>
            </a:r>
          </a:p>
          <a:p>
            <a:pPr>
              <a:spcAft>
                <a:spcPts val="200"/>
              </a:spcAft>
              <a:defRPr sz="1100">
                <a:solidFill>
                  <a:srgbClr val="ADB5BD"/>
                </a:solidFill>
              </a:defRPr>
            </a:pPr>
            <a:r>
              <a:t>• Panel power: smooth, staircase-free tracking curve</a:t>
            </a:r>
          </a:p>
          <a:p>
            <a:pPr>
              <a:spcAft>
                <a:spcPts val="200"/>
              </a:spcAft>
              <a:defRPr sz="1100">
                <a:solidFill>
                  <a:srgbClr val="ADB5BD"/>
                </a:solidFill>
              </a:defRPr>
            </a:pPr>
            <a:r>
              <a:t>• Locks onto P-V MPP within seconds of light-level change</a:t>
            </a:r>
          </a:p>
          <a:p>
            <a:pPr>
              <a:spcAft>
                <a:spcPts val="200"/>
              </a:spcAft>
              <a:defRPr sz="1100">
                <a:solidFill>
                  <a:srgbClr val="ADB5BD"/>
                </a:solidFill>
              </a:defRPr>
            </a:pPr>
            <a:r>
              <a:t>• Battery voltage: stable within 11.0V–14.4V envelope</a:t>
            </a:r>
          </a:p>
          <a:p>
            <a:pPr>
              <a:spcAft>
                <a:spcPts val="200"/>
              </a:spcAft>
              <a:defRPr sz="1100">
                <a:solidFill>
                  <a:srgbClr val="ADB5BD"/>
                </a:solidFill>
              </a:defRPr>
            </a:pPr>
            <a:r>
              <a:t>• Load relay: clean switching, no chatter at thresholds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749039"/>
            <a:ext cx="5029200" cy="2011680"/>
          </a:xfrm>
          <a:prstGeom prst="roundRect">
            <a:avLst/>
          </a:prstGeom>
          <a:solidFill>
            <a:srgbClr val="1B2838"/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 bIns="91440"/>
          <a:lstStyle/>
          <a:p>
            <a:pPr algn="ctr">
              <a:spcAft>
                <a:spcPts val="500"/>
              </a:spcAft>
              <a:defRPr sz="1200" b="1">
                <a:solidFill>
                  <a:srgbClr val="FF6B35"/>
                </a:solidFill>
              </a:defRPr>
            </a:pPr>
            <a:r>
              <a:t>Validation Metrics</a:t>
            </a:r>
          </a:p>
          <a:p>
            <a:pPr>
              <a:spcAft>
                <a:spcPts val="200"/>
              </a:spcAft>
              <a:defRPr sz="1100">
                <a:solidFill>
                  <a:srgbClr val="ADB5BD"/>
                </a:solidFill>
              </a:defRPr>
            </a:pPr>
            <a:r>
              <a:t>• Quantitative: Energy harvested (Wh) over 4-hour test — direct-connect vs. MPPT</a:t>
            </a:r>
          </a:p>
          <a:p>
            <a:pPr>
              <a:spcAft>
                <a:spcPts val="200"/>
              </a:spcAft>
              <a:defRPr sz="1100">
                <a:solidFill>
                  <a:srgbClr val="ADB5BD"/>
                </a:solidFill>
              </a:defRPr>
            </a:pPr>
            <a:r>
              <a:t>• Qualitative: System stability under cloud transients, no oscillation at MPP</a:t>
            </a:r>
          </a:p>
          <a:p>
            <a:pPr>
              <a:spcAft>
                <a:spcPts val="200"/>
              </a:spcAft>
              <a:defRPr sz="1100">
                <a:solidFill>
                  <a:srgbClr val="ADB5BD"/>
                </a:solidFill>
              </a:defRPr>
            </a:pPr>
            <a:r>
              <a:t>• Functional: All EMS states (NORMAL, LOW_BATT, OVERCHARGE, FAULT) triggered</a:t>
            </a:r>
          </a:p>
          <a:p>
            <a:pPr>
              <a:spcAft>
                <a:spcPts val="200"/>
              </a:spcAft>
              <a:defRPr sz="1100">
                <a:solidFill>
                  <a:srgbClr val="ADB5BD"/>
                </a:solidFill>
              </a:defRPr>
            </a:pPr>
            <a:r>
              <a:t>• Reliability: 48-hour continuous run with no resets or failures</a:t>
            </a:r>
          </a:p>
          <a:p>
            <a:pPr>
              <a:spcAft>
                <a:spcPts val="200"/>
              </a:spcAft>
              <a:defRPr sz="1100">
                <a:solidFill>
                  <a:srgbClr val="ADB5BD"/>
                </a:solidFill>
              </a:defRPr>
            </a:pPr>
            <a:r>
              <a:t>• Design Note: Figures above 81% are literature references; measured value recorded during baseline-vs-MPPT test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5852160"/>
            <a:ext cx="11247120" cy="457200"/>
          </a:xfrm>
          <a:prstGeom prst="round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D1B2A"/>
                </a:solidFill>
              </a:defRPr>
            </a:pPr>
            <a:r>
              <a:t>Target: Demonstrate ≥ 20% energy gain over direct-connect baseline in controlled field tests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20040"/>
            <a:ext cx="822960" cy="347472"/>
          </a:xfrm>
          <a:prstGeom prst="round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D1B2A"/>
                </a:solidFill>
              </a:defRPr>
            </a:pPr>
            <a:r>
              <a:t>014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0" y="228600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</a:defRPr>
            </a:pPr>
            <a:r>
              <a:t>Applications &amp; Broader Impact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77240"/>
            <a:ext cx="11247120" cy="228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379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ADB5BD"/>
                </a:solidFill>
              </a:defRPr>
            </a:pPr>
            <a:r>
              <a:t>CBIT  |  Dept. of Electrical &amp; Electronics 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DB5BD"/>
                </a:solidFill>
              </a:defRPr>
            </a:pPr>
            <a:r>
              <a:t>15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051560"/>
          <a:ext cx="1124712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2560320"/>
                <a:gridCol w="5760720"/>
              </a:tblGrid>
              <a:tr h="603504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D1B2A"/>
                          </a:solidFill>
                        </a:defRPr>
                      </a:pPr>
                      <a:r>
                        <a:t>Application Area</a:t>
                      </a:r>
                    </a:p>
                  </a:txBody>
                  <a:tcPr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D1B2A"/>
                          </a:solidFill>
                        </a:defRPr>
                      </a:pPr>
                      <a:r>
                        <a:t>Rating / Range</a:t>
                      </a:r>
                    </a:p>
                  </a:txBody>
                  <a:tcPr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D1B2A"/>
                          </a:solidFill>
                        </a:defRPr>
                      </a:pPr>
                      <a:r>
                        <a:t>Role of the System</a:t>
                      </a:r>
                    </a:p>
                  </a:txBody>
                  <a:tcPr>
                    <a:solidFill>
                      <a:srgbClr val="00B4D8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ADB5BD"/>
                          </a:solidFill>
                        </a:defRPr>
                      </a:pPr>
                      <a:r>
                        <a:t>Off-Grid Rural Lighting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ADB5BD"/>
                          </a:solidFill>
                        </a:defRPr>
                      </a:pPr>
                      <a:r>
                        <a:t>10–50 W, 12V DC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ADB5BD"/>
                          </a:solidFill>
                        </a:defRPr>
                      </a:pPr>
                      <a:r>
                        <a:t>Tracked, protected solar charging for lighting &amp; small loads without grid access</a:t>
                      </a:r>
                    </a:p>
                  </a:txBody>
                  <a:tcPr/>
                </a:tc>
              </a:tr>
              <a:tr h="603504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ADB5BD"/>
                          </a:solidFill>
                        </a:defRPr>
                      </a:pPr>
                      <a:r>
                        <a:t>Educational / Lab Demo</a:t>
                      </a:r>
                    </a:p>
                  </a:txBody>
                  <a:tcPr>
                    <a:solidFill>
                      <a:srgbClr val="1B28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ADB5BD"/>
                          </a:solidFill>
                        </a:defRPr>
                      </a:pPr>
                      <a:r>
                        <a:t>10–20 W, 12V DC</a:t>
                      </a:r>
                    </a:p>
                  </a:txBody>
                  <a:tcPr>
                    <a:solidFill>
                      <a:srgbClr val="1B28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ADB5BD"/>
                          </a:solidFill>
                        </a:defRPr>
                      </a:pPr>
                      <a:r>
                        <a:t>Hands-on demonstration of MPPT, EMS, and IoT concepts for coursework</a:t>
                      </a:r>
                    </a:p>
                  </a:txBody>
                  <a:tcPr>
                    <a:solidFill>
                      <a:srgbClr val="1B2838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ADB5BD"/>
                          </a:solidFill>
                        </a:defRPr>
                      </a:pPr>
                      <a:r>
                        <a:t>Small Residential Backup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ADB5BD"/>
                          </a:solidFill>
                        </a:defRPr>
                      </a:pPr>
                      <a:r>
                        <a:t>20–100 W, 12–24V DC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ADB5BD"/>
                          </a:solidFill>
                        </a:defRPr>
                      </a:pPr>
                      <a:r>
                        <a:t>Supplements grid power during outages with automated battery protection</a:t>
                      </a:r>
                    </a:p>
                  </a:txBody>
                  <a:tcPr/>
                </a:tc>
              </a:tr>
              <a:tr h="603504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ADB5BD"/>
                          </a:solidFill>
                        </a:defRPr>
                      </a:pPr>
                      <a:r>
                        <a:t>Remote Sensor / IoT Nodes</a:t>
                      </a:r>
                    </a:p>
                  </a:txBody>
                  <a:tcPr>
                    <a:solidFill>
                      <a:srgbClr val="1B28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ADB5BD"/>
                          </a:solidFill>
                        </a:defRPr>
                      </a:pPr>
                      <a:r>
                        <a:t>5–20 W, 12V DC</a:t>
                      </a:r>
                    </a:p>
                  </a:txBody>
                  <a:tcPr>
                    <a:solidFill>
                      <a:srgbClr val="1B28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ADB5BD"/>
                          </a:solidFill>
                        </a:defRPr>
                      </a:pPr>
                      <a:r>
                        <a:t>Powers field-deployed sensor stations with self-managed charging</a:t>
                      </a:r>
                    </a:p>
                  </a:txBody>
                  <a:tcPr>
                    <a:solidFill>
                      <a:srgbClr val="1B2838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57200" y="4206240"/>
            <a:ext cx="11247120" cy="1554480"/>
          </a:xfrm>
          <a:prstGeom prst="roundRect">
            <a:avLst/>
          </a:prstGeom>
          <a:solidFill>
            <a:srgbClr val="1B2838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 bIns="91440"/>
          <a:lstStyle/>
          <a:p>
            <a:pPr algn="ctr">
              <a:spcAft>
                <a:spcPts val="500"/>
              </a:spcAft>
              <a:defRPr sz="1400" b="1">
                <a:solidFill>
                  <a:srgbClr val="2ECC71"/>
                </a:solidFill>
              </a:defRPr>
            </a:pPr>
            <a:r>
              <a:t>Broader Impact</a:t>
            </a:r>
          </a:p>
          <a:p>
            <a:pPr>
              <a:spcAft>
                <a:spcPts val="200"/>
              </a:spcAft>
              <a:defRPr sz="1200">
                <a:solidFill>
                  <a:srgbClr val="ADB5BD"/>
                </a:solidFill>
              </a:defRPr>
            </a:pPr>
            <a:r>
              <a:t>• Extendable as an academic paper, low-cost product, or campus startup pilot</a:t>
            </a:r>
          </a:p>
          <a:p>
            <a:pPr>
              <a:spcAft>
                <a:spcPts val="200"/>
              </a:spcAft>
              <a:defRPr sz="1200">
                <a:solidFill>
                  <a:srgbClr val="ADB5BD"/>
                </a:solidFill>
              </a:defRPr>
            </a:pPr>
            <a:r>
              <a:t>• Supports SDG 7 (Clean Energy) and SDG 9 (Industry &amp; Innovation)</a:t>
            </a:r>
          </a:p>
          <a:p>
            <a:pPr>
              <a:spcAft>
                <a:spcPts val="200"/>
              </a:spcAft>
              <a:defRPr sz="1200">
                <a:solidFill>
                  <a:srgbClr val="ADB5BD"/>
                </a:solidFill>
              </a:defRPr>
            </a:pPr>
            <a:r>
              <a:t>• Aligns with India's push for distributed renewable micro-generation (PM-KUSUM, rooftop solar)</a:t>
            </a:r>
          </a:p>
          <a:p>
            <a:pPr>
              <a:spcAft>
                <a:spcPts val="200"/>
              </a:spcAft>
              <a:defRPr sz="1200">
                <a:solidFill>
                  <a:srgbClr val="ADB5BD"/>
                </a:solidFill>
              </a:defRPr>
            </a:pPr>
            <a:r>
              <a:t>• Scalable path: 20W proof-of-concept → 100W residential → 500W institutional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20040"/>
            <a:ext cx="822960" cy="347472"/>
          </a:xfrm>
          <a:prstGeom prst="round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D1B2A"/>
                </a:solidFill>
              </a:defRPr>
            </a:pPr>
            <a:r>
              <a:t>015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0" y="228600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</a:defRPr>
            </a:pPr>
            <a:r>
              <a:t>Timeline for Completion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77240"/>
            <a:ext cx="11247120" cy="228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379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ADB5BD"/>
                </a:solidFill>
              </a:defRPr>
            </a:pPr>
            <a:r>
              <a:t>CBIT  |  Dept. of Electrical &amp; Electronics 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DB5BD"/>
                </a:solidFill>
              </a:defRPr>
            </a:pPr>
            <a:r>
              <a:t>16</a:t>
            </a:r>
          </a:p>
        </p:txBody>
      </p:sp>
      <p:pic>
        <p:nvPicPr>
          <p:cNvPr id="7" name="Picture 6" descr="timeline_gant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11247120" cy="27432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57200" y="3931920"/>
            <a:ext cx="2743200" cy="1645920"/>
          </a:xfrm>
          <a:prstGeom prst="roundRect">
            <a:avLst/>
          </a:prstGeom>
          <a:solidFill>
            <a:srgbClr val="1B2838"/>
          </a:solidFill>
          <a:ln w="1905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 bIns="91440"/>
          <a:lstStyle/>
          <a:p>
            <a:pPr algn="ctr">
              <a:spcAft>
                <a:spcPts val="500"/>
              </a:spcAft>
              <a:defRPr sz="1100" b="1">
                <a:solidFill>
                  <a:srgbClr val="1565C0"/>
                </a:solidFill>
              </a:defRPr>
            </a:pPr>
            <a:r>
              <a:t>Phase 1: Literature &amp; Procurement</a:t>
            </a:r>
            <a:br/>
            <a:r>
              <a:t>[Weeks 1–3]</a:t>
            </a:r>
          </a:p>
          <a:p>
            <a:pPr>
              <a:spcAft>
                <a:spcPts val="200"/>
              </a:spcAft>
              <a:defRPr sz="1000">
                <a:solidFill>
                  <a:srgbClr val="ADB5BD"/>
                </a:solidFill>
              </a:defRPr>
            </a:pPr>
            <a:r>
              <a:t>• Literature review &amp; gap identification</a:t>
            </a:r>
          </a:p>
          <a:p>
            <a:pPr>
              <a:spcAft>
                <a:spcPts val="200"/>
              </a:spcAft>
              <a:defRPr sz="1000">
                <a:solidFill>
                  <a:srgbClr val="ADB5BD"/>
                </a:solidFill>
              </a:defRPr>
            </a:pPr>
            <a:r>
              <a:t>• Component procurement &amp; BOM verification</a:t>
            </a:r>
          </a:p>
          <a:p>
            <a:pPr>
              <a:spcAft>
                <a:spcPts val="200"/>
              </a:spcAft>
              <a:defRPr sz="1000">
                <a:solidFill>
                  <a:srgbClr val="ADB5BD"/>
                </a:solidFill>
              </a:defRPr>
            </a:pPr>
            <a:r>
              <a:t>• Circuit schematic design (KiCad/Proteus)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0" y="3931920"/>
            <a:ext cx="2743200" cy="1645920"/>
          </a:xfrm>
          <a:prstGeom prst="roundRect">
            <a:avLst/>
          </a:prstGeom>
          <a:solidFill>
            <a:srgbClr val="1B2838"/>
          </a:solidFill>
          <a:ln w="19050">
            <a:solidFill>
              <a:srgbClr val="006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 bIns="91440"/>
          <a:lstStyle/>
          <a:p>
            <a:pPr algn="ctr">
              <a:spcAft>
                <a:spcPts val="500"/>
              </a:spcAft>
              <a:defRPr sz="1100" b="1">
                <a:solidFill>
                  <a:srgbClr val="00695C"/>
                </a:solidFill>
              </a:defRPr>
            </a:pPr>
            <a:r>
              <a:t>Phase 2: Hardware Assembly</a:t>
            </a:r>
            <a:br/>
            <a:r>
              <a:t>[Weeks 4–6]</a:t>
            </a:r>
          </a:p>
          <a:p>
            <a:pPr>
              <a:spcAft>
                <a:spcPts val="200"/>
              </a:spcAft>
              <a:defRPr sz="1000">
                <a:solidFill>
                  <a:srgbClr val="ADB5BD"/>
                </a:solidFill>
              </a:defRPr>
            </a:pPr>
            <a:r>
              <a:t>• Buck converter PCB assembly &amp; bench test</a:t>
            </a:r>
          </a:p>
          <a:p>
            <a:pPr>
              <a:spcAft>
                <a:spcPts val="200"/>
              </a:spcAft>
              <a:defRPr sz="1000">
                <a:solidFill>
                  <a:srgbClr val="ADB5BD"/>
                </a:solidFill>
              </a:defRPr>
            </a:pPr>
            <a:r>
              <a:t>• MOSFET driver characterization</a:t>
            </a:r>
          </a:p>
          <a:p>
            <a:pPr>
              <a:spcAft>
                <a:spcPts val="200"/>
              </a:spcAft>
              <a:defRPr sz="1000">
                <a:solidFill>
                  <a:srgbClr val="ADB5BD"/>
                </a:solidFill>
              </a:defRPr>
            </a:pPr>
            <a:r>
              <a:t>• Direct-connect baseline efficiency measurement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3931920"/>
            <a:ext cx="2743200" cy="1645920"/>
          </a:xfrm>
          <a:prstGeom prst="roundRect">
            <a:avLst/>
          </a:prstGeom>
          <a:solidFill>
            <a:srgbClr val="1B2838"/>
          </a:solidFill>
          <a:ln w="1905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 bIns="91440"/>
          <a:lstStyle/>
          <a:p>
            <a:pPr algn="ctr">
              <a:spcAft>
                <a:spcPts val="500"/>
              </a:spcAft>
              <a:defRPr sz="1100" b="1">
                <a:solidFill>
                  <a:srgbClr val="E65100"/>
                </a:solidFill>
              </a:defRPr>
            </a:pPr>
            <a:r>
              <a:t>Phase 3: Integration &amp; IoT</a:t>
            </a:r>
            <a:br/>
            <a:r>
              <a:t>[Weeks 7–10]</a:t>
            </a:r>
          </a:p>
          <a:p>
            <a:pPr>
              <a:spcAft>
                <a:spcPts val="200"/>
              </a:spcAft>
              <a:defRPr sz="1000">
                <a:solidFill>
                  <a:srgbClr val="ADB5BD"/>
                </a:solidFill>
              </a:defRPr>
            </a:pPr>
            <a:r>
              <a:t>• MPPT + EMS firmware integration</a:t>
            </a:r>
          </a:p>
          <a:p>
            <a:pPr>
              <a:spcAft>
                <a:spcPts val="200"/>
              </a:spcAft>
              <a:defRPr sz="1000">
                <a:solidFill>
                  <a:srgbClr val="ADB5BD"/>
                </a:solidFill>
              </a:defRPr>
            </a:pPr>
            <a:r>
              <a:t>• ThingSpeak/Blynk dashboard setup</a:t>
            </a:r>
          </a:p>
          <a:p>
            <a:pPr>
              <a:spcAft>
                <a:spcPts val="200"/>
              </a:spcAft>
              <a:defRPr sz="1000">
                <a:solidFill>
                  <a:srgbClr val="ADB5BD"/>
                </a:solidFill>
              </a:defRPr>
            </a:pPr>
            <a:r>
              <a:t>• Sensor calibration &amp; initial field trials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20" y="3931920"/>
            <a:ext cx="2743200" cy="1645920"/>
          </a:xfrm>
          <a:prstGeom prst="roundRect">
            <a:avLst/>
          </a:prstGeom>
          <a:solidFill>
            <a:srgbClr val="1B2838"/>
          </a:solidFill>
          <a:ln w="19050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 bIns="91440"/>
          <a:lstStyle/>
          <a:p>
            <a:pPr algn="ctr">
              <a:spcAft>
                <a:spcPts val="500"/>
              </a:spcAft>
              <a:defRPr sz="1100" b="1">
                <a:solidFill>
                  <a:srgbClr val="6A1B9A"/>
                </a:solidFill>
              </a:defRPr>
            </a:pPr>
            <a:r>
              <a:t>Phase 4: Validation &amp; Report</a:t>
            </a:r>
            <a:br/>
            <a:r>
              <a:t>[Weeks 11–14]</a:t>
            </a:r>
          </a:p>
          <a:p>
            <a:pPr>
              <a:spcAft>
                <a:spcPts val="200"/>
              </a:spcAft>
              <a:defRPr sz="1000">
                <a:solidFill>
                  <a:srgbClr val="ADB5BD"/>
                </a:solidFill>
              </a:defRPr>
            </a:pPr>
            <a:r>
              <a:t>• 48-hour stress test &amp; data analysis</a:t>
            </a:r>
          </a:p>
          <a:p>
            <a:pPr>
              <a:spcAft>
                <a:spcPts val="200"/>
              </a:spcAft>
              <a:defRPr sz="1000">
                <a:solidFill>
                  <a:srgbClr val="ADB5BD"/>
                </a:solidFill>
              </a:defRPr>
            </a:pPr>
            <a:r>
              <a:t>• Report writing &amp; documentation</a:t>
            </a:r>
          </a:p>
          <a:p>
            <a:pPr>
              <a:spcAft>
                <a:spcPts val="200"/>
              </a:spcAft>
              <a:defRPr sz="1000">
                <a:solidFill>
                  <a:srgbClr val="ADB5BD"/>
                </a:solidFill>
              </a:defRPr>
            </a:pPr>
            <a:r>
              <a:t>• Final seminar &amp; viva voce preparation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5715000"/>
            <a:ext cx="11247120" cy="411480"/>
          </a:xfrm>
          <a:prstGeom prst="roundRect">
            <a:avLst/>
          </a:prstGeom>
          <a:solidFill>
            <a:srgbClr val="1B2838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00B4D8"/>
                </a:solidFill>
              </a:defRPr>
            </a:pPr>
            <a:r>
              <a:t>M. Krishna — Hardware &amp; Power Electronics  |  N. Mounika — MPPT/EMS Firmware  |  J. Akshitha — IoT &amp; Cloud Dashboard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20040"/>
            <a:ext cx="822960" cy="347472"/>
          </a:xfrm>
          <a:prstGeom prst="round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D1B2A"/>
                </a:solidFill>
              </a:defRPr>
            </a:pPr>
            <a:r>
              <a:t>016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0" y="228600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</a:defRPr>
            </a:pPr>
            <a:r>
              <a:t>Limitations &amp; Challenges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77240"/>
            <a:ext cx="11247120" cy="228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379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ADB5BD"/>
                </a:solidFill>
              </a:defRPr>
            </a:pPr>
            <a:r>
              <a:t>CBIT  |  Dept. of Electrical &amp; Electronics 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DB5BD"/>
                </a:solidFill>
              </a:defRPr>
            </a:pPr>
            <a:r>
              <a:t>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51560"/>
            <a:ext cx="11247120" cy="1097280"/>
          </a:xfrm>
          <a:prstGeom prst="roundRect">
            <a:avLst/>
          </a:prstGeom>
          <a:solidFill>
            <a:srgbClr val="1B2838"/>
          </a:solidFill>
          <a:ln w="254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Aft>
                <a:spcPts val="200"/>
              </a:spcAft>
              <a:defRPr sz="1400" b="1">
                <a:solidFill>
                  <a:srgbClr val="E74C3C"/>
                </a:solidFill>
              </a:defRPr>
            </a:pPr>
            <a:r>
              <a:t>Small-Scale Validation</a:t>
            </a:r>
          </a:p>
          <a:p>
            <a:pPr>
              <a:spcAft>
                <a:spcPts val="100"/>
              </a:spcAft>
              <a:defRPr sz="1100">
                <a:solidFill>
                  <a:srgbClr val="ADB5BD"/>
                </a:solidFill>
              </a:defRPr>
            </a:pPr>
            <a:r>
              <a:t>Testing limited to 12V/20W panel and 7Ah battery — results establish proof-of-concept, not utility-scale performance.</a:t>
            </a:r>
          </a:p>
          <a:p>
            <a:pPr>
              <a:defRPr sz="1100" i="1">
                <a:solidFill>
                  <a:srgbClr val="2ECC71"/>
                </a:solidFill>
              </a:defRPr>
            </a:pPr>
            <a:r>
              <a:t>→ Mitigation: Present efficiency as scaled indicators; note path to larger ratings in future work.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240280"/>
            <a:ext cx="11247120" cy="1097280"/>
          </a:xfrm>
          <a:prstGeom prst="roundRect">
            <a:avLst/>
          </a:prstGeom>
          <a:solidFill>
            <a:srgbClr val="1B2838"/>
          </a:solidFill>
          <a:ln w="254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Aft>
                <a:spcPts val="200"/>
              </a:spcAft>
              <a:defRPr sz="1400" b="1">
                <a:solidFill>
                  <a:srgbClr val="FF6B35"/>
                </a:solidFill>
              </a:defRPr>
            </a:pPr>
            <a:r>
              <a:t>Single-Semester Timeline</a:t>
            </a:r>
          </a:p>
          <a:p>
            <a:pPr>
              <a:spcAft>
                <a:spcPts val="100"/>
              </a:spcAft>
              <a:defRPr sz="1100">
                <a:solidFill>
                  <a:srgbClr val="ADB5BD"/>
                </a:solidFill>
              </a:defRPr>
            </a:pPr>
            <a:r>
              <a:t>Design, build, and test must fit within one semester, constraining iteration time.</a:t>
            </a:r>
          </a:p>
          <a:p>
            <a:pPr>
              <a:defRPr sz="1100" i="1">
                <a:solidFill>
                  <a:srgbClr val="2ECC71"/>
                </a:solidFill>
              </a:defRPr>
            </a:pPr>
            <a:r>
              <a:t>→ Mitigation: Freeze P&amp;O algorithm early; defer fuzzy/ANN variants to future work.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429000"/>
            <a:ext cx="11247120" cy="1097280"/>
          </a:xfrm>
          <a:prstGeom prst="roundRect">
            <a:avLst/>
          </a:prstGeom>
          <a:solidFill>
            <a:srgbClr val="1B2838"/>
          </a:solidFill>
          <a:ln w="254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Aft>
                <a:spcPts val="200"/>
              </a:spcAft>
              <a:defRPr sz="1400" b="1">
                <a:solidFill>
                  <a:srgbClr val="3498DB"/>
                </a:solidFill>
              </a:defRPr>
            </a:pPr>
            <a:r>
              <a:t>Component &amp; Lab Access</a:t>
            </a:r>
          </a:p>
          <a:p>
            <a:pPr>
              <a:spcAft>
                <a:spcPts val="100"/>
              </a:spcAft>
              <a:defRPr sz="1100">
                <a:solidFill>
                  <a:srgbClr val="ADB5BD"/>
                </a:solidFill>
              </a:defRPr>
            </a:pPr>
            <a:r>
              <a:t>INA219 sensors, IRF540N MOSFET stage, and lab bench time are shared resources.</a:t>
            </a:r>
          </a:p>
          <a:p>
            <a:pPr>
              <a:defRPr sz="1100" i="1">
                <a:solidFill>
                  <a:srgbClr val="2ECC71"/>
                </a:solidFill>
              </a:defRPr>
            </a:pPr>
            <a:r>
              <a:t>→ Mitigation: Procure components early; reserve lab slots; bench-test buck converter in isolation first.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617720"/>
            <a:ext cx="11247120" cy="1097280"/>
          </a:xfrm>
          <a:prstGeom prst="roundRect">
            <a:avLst/>
          </a:prstGeom>
          <a:solidFill>
            <a:srgbClr val="1B2838"/>
          </a:solidFill>
          <a:ln w="254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spcAft>
                <a:spcPts val="200"/>
              </a:spcAft>
              <a:defRPr sz="1400" b="1">
                <a:solidFill>
                  <a:srgbClr val="9B59B6"/>
                </a:solidFill>
              </a:defRPr>
            </a:pPr>
            <a:r>
              <a:t>WiFi / Connectivity Dependence</a:t>
            </a:r>
          </a:p>
          <a:p>
            <a:pPr>
              <a:spcAft>
                <a:spcPts val="100"/>
              </a:spcAft>
              <a:defRPr sz="1100">
                <a:solidFill>
                  <a:srgbClr val="ADB5BD"/>
                </a:solidFill>
              </a:defRPr>
            </a:pPr>
            <a:r>
              <a:t>IoT reporting depends on stable WiFi; outdoor/rural sites may have weak connectivity.</a:t>
            </a:r>
          </a:p>
          <a:p>
            <a:pPr>
              <a:defRPr sz="1100" i="1">
                <a:solidFill>
                  <a:srgbClr val="2ECC71"/>
                </a:solidFill>
              </a:defRPr>
            </a:pPr>
            <a:r>
              <a:t>→ Mitigation: Retain local 16×2 LCD as fallback; core protection functions work without cloud link.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806440"/>
            <a:ext cx="11247120" cy="457200"/>
          </a:xfrm>
          <a:prstGeom prst="round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D1B2A"/>
                </a:solidFill>
              </a:defRPr>
            </a:pPr>
            <a:r>
              <a:t>Every limitation has a documented mitigation strategy — ensuring project deliverability within the semester timeline.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20040"/>
            <a:ext cx="822960" cy="347472"/>
          </a:xfrm>
          <a:prstGeom prst="round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D1B2A"/>
                </a:solidFill>
              </a:defRPr>
            </a:pPr>
            <a:r>
              <a:t>017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0" y="228600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77240"/>
            <a:ext cx="11247120" cy="228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379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ADB5BD"/>
                </a:solidFill>
              </a:defRPr>
            </a:pPr>
            <a:r>
              <a:t>CBIT  |  Dept. of Electrical &amp; Electronics 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DB5BD"/>
                </a:solidFill>
              </a:defRPr>
            </a:pPr>
            <a:r>
              <a:t>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51560"/>
            <a:ext cx="11247120" cy="868680"/>
          </a:xfrm>
          <a:prstGeom prst="roundRect">
            <a:avLst/>
          </a:prstGeom>
          <a:solidFill>
            <a:srgbClr val="1B2838"/>
          </a:solidFill>
          <a:ln w="254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54864" bIns="54864"/>
          <a:lstStyle/>
          <a:p>
            <a:pPr algn="ctr">
              <a:spcAft>
                <a:spcPts val="100"/>
              </a:spcAft>
              <a:defRPr sz="1300" b="1">
                <a:solidFill>
                  <a:srgbClr val="00B4D8"/>
                </a:solidFill>
              </a:defRPr>
            </a:pPr>
            <a:r>
              <a:t>Integrated Architecture</a:t>
            </a:r>
          </a:p>
          <a:p>
            <a:pPr>
              <a:defRPr sz="1100">
                <a:solidFill>
                  <a:srgbClr val="ADB5BD"/>
                </a:solidFill>
              </a:defRPr>
            </a:pPr>
            <a:r>
              <a:t>MPPT, automated battery/load protection, and IoT reporting combined on a single Arduino UNO R4 WiFi board — a 3-in-1 solution addressing the identified research gap.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011680"/>
            <a:ext cx="11247120" cy="868680"/>
          </a:xfrm>
          <a:prstGeom prst="roundRect">
            <a:avLst/>
          </a:prstGeom>
          <a:solidFill>
            <a:srgbClr val="1B2838"/>
          </a:solidFill>
          <a:ln w="254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54864" bIns="54864"/>
          <a:lstStyle/>
          <a:p>
            <a:pPr algn="ctr">
              <a:spcAft>
                <a:spcPts val="100"/>
              </a:spcAft>
              <a:defRPr sz="1300" b="1">
                <a:solidFill>
                  <a:srgbClr val="FF6B35"/>
                </a:solidFill>
              </a:defRPr>
            </a:pPr>
            <a:r>
              <a:t>Literature-Grounded Design</a:t>
            </a:r>
          </a:p>
          <a:p>
            <a:pPr>
              <a:defRPr sz="1100">
                <a:solidFill>
                  <a:srgbClr val="ADB5BD"/>
                </a:solidFill>
              </a:defRPr>
            </a:pPr>
            <a:r>
              <a:t>Fifteen IEEE and peer-reviewed sources reviewed, identifying a specific, addressable gap. Design choices (P&amp;O, buck converter, INA219) are justified by comparative analysis.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971800"/>
            <a:ext cx="11247120" cy="868680"/>
          </a:xfrm>
          <a:prstGeom prst="roundRect">
            <a:avLst/>
          </a:prstGeom>
          <a:solidFill>
            <a:srgbClr val="1B2838"/>
          </a:solidFill>
          <a:ln w="254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54864" bIns="54864"/>
          <a:lstStyle/>
          <a:p>
            <a:pPr algn="ctr">
              <a:spcAft>
                <a:spcPts val="100"/>
              </a:spcAft>
              <a:defRPr sz="1300" b="1">
                <a:solidFill>
                  <a:srgbClr val="2ECC71"/>
                </a:solidFill>
              </a:defRPr>
            </a:pPr>
            <a:r>
              <a:t>Quantifiable Validation</a:t>
            </a:r>
          </a:p>
          <a:p>
            <a:pPr>
              <a:defRPr sz="1100">
                <a:solidFill>
                  <a:srgbClr val="ADB5BD"/>
                </a:solidFill>
              </a:defRPr>
            </a:pPr>
            <a:r>
              <a:t>A direct-connect baseline test is built into the plan, ensuring the efficiency claim is measured, not assumed. Target: ≥20% energy gain over direct-connect.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931920"/>
            <a:ext cx="11247120" cy="868680"/>
          </a:xfrm>
          <a:prstGeom prst="roundRect">
            <a:avLst/>
          </a:prstGeom>
          <a:solidFill>
            <a:srgbClr val="1B2838"/>
          </a:solidFill>
          <a:ln w="254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54864" bIns="54864"/>
          <a:lstStyle/>
          <a:p>
            <a:pPr algn="ctr">
              <a:spcAft>
                <a:spcPts val="100"/>
              </a:spcAft>
              <a:defRPr sz="1300" b="1">
                <a:solidFill>
                  <a:srgbClr val="3498DB"/>
                </a:solidFill>
              </a:defRPr>
            </a:pPr>
            <a:r>
              <a:t>Feasible &amp; Scalable</a:t>
            </a:r>
          </a:p>
          <a:p>
            <a:pPr>
              <a:defRPr sz="1100">
                <a:solidFill>
                  <a:srgbClr val="ADB5BD"/>
                </a:solidFill>
              </a:defRPr>
            </a:pPr>
            <a:r>
              <a:t>The 14-week design, build, and test plan fits within the semester window. BOM under ₹3,700 — 60–75% cheaper than commercial equivalents, with a clear scalability path.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892040"/>
            <a:ext cx="11247120" cy="868680"/>
          </a:xfrm>
          <a:prstGeom prst="roundRect">
            <a:avLst/>
          </a:prstGeom>
          <a:solidFill>
            <a:srgbClr val="1B2838"/>
          </a:solidFill>
          <a:ln w="254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54864" bIns="54864"/>
          <a:lstStyle/>
          <a:p>
            <a:pPr algn="ctr">
              <a:spcAft>
                <a:spcPts val="100"/>
              </a:spcAft>
              <a:defRPr sz="1300" b="1">
                <a:solidFill>
                  <a:srgbClr val="9B59B6"/>
                </a:solidFill>
              </a:defRPr>
            </a:pPr>
            <a:r>
              <a:t>Real-World Impact</a:t>
            </a:r>
          </a:p>
          <a:p>
            <a:pPr>
              <a:defRPr sz="1100">
                <a:solidFill>
                  <a:srgbClr val="ADB5BD"/>
                </a:solidFill>
              </a:defRPr>
            </a:pPr>
            <a:r>
              <a:t>Supports SDG 7 &amp; 9, aligns with India's distributed renewable push, and is immediately deployable for rural lighting, educational labs, and remote sensor stations.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5486400"/>
            <a:ext cx="1463040" cy="1463040"/>
          </a:xfrm>
          <a:prstGeom prst="ellipse">
            <a:avLst/>
          </a:prstGeom>
          <a:solidFill>
            <a:srgbClr val="1B2838"/>
          </a:solidFill>
          <a:ln w="381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37160"/>
          <a:lstStyle/>
          <a:p>
            <a:pPr algn="ctr">
              <a:defRPr sz="1600" b="1">
                <a:solidFill>
                  <a:srgbClr val="00B4D8"/>
                </a:solidFill>
              </a:defRPr>
            </a:pPr>
            <a:r>
              <a:t>3-in-1</a:t>
            </a:r>
          </a:p>
          <a:p>
            <a:pPr algn="ctr">
              <a:defRPr sz="900">
                <a:solidFill>
                  <a:srgbClr val="ADB5BD"/>
                </a:solidFill>
              </a:defRPr>
            </a:pPr>
            <a:r>
              <a:t>Board</a:t>
            </a:r>
            <a:br/>
            <a:r>
              <a:t>Integration</a:t>
            </a:r>
          </a:p>
        </p:txBody>
      </p:sp>
      <p:sp>
        <p:nvSpPr>
          <p:cNvPr id="13" name="Oval 12"/>
          <p:cNvSpPr/>
          <p:nvPr/>
        </p:nvSpPr>
        <p:spPr>
          <a:xfrm>
            <a:off x="3108960" y="5486400"/>
            <a:ext cx="1463040" cy="1463040"/>
          </a:xfrm>
          <a:prstGeom prst="ellipse">
            <a:avLst/>
          </a:prstGeom>
          <a:solidFill>
            <a:srgbClr val="1B2838"/>
          </a:solidFill>
          <a:ln w="381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37160"/>
          <a:lstStyle/>
          <a:p>
            <a:pPr algn="ctr">
              <a:defRPr sz="1600" b="1">
                <a:solidFill>
                  <a:srgbClr val="FF6B35"/>
                </a:solidFill>
              </a:defRPr>
            </a:pPr>
            <a:r>
              <a:t>15</a:t>
            </a:r>
          </a:p>
          <a:p>
            <a:pPr algn="ctr">
              <a:defRPr sz="900">
                <a:solidFill>
                  <a:srgbClr val="ADB5BD"/>
                </a:solidFill>
              </a:defRPr>
            </a:pPr>
            <a:r>
              <a:t>Papers</a:t>
            </a:r>
            <a:br/>
            <a:r>
              <a:t>Reviewed</a:t>
            </a:r>
          </a:p>
        </p:txBody>
      </p:sp>
      <p:sp>
        <p:nvSpPr>
          <p:cNvPr id="14" name="Oval 13"/>
          <p:cNvSpPr/>
          <p:nvPr/>
        </p:nvSpPr>
        <p:spPr>
          <a:xfrm>
            <a:off x="5303520" y="5486400"/>
            <a:ext cx="1463040" cy="1463040"/>
          </a:xfrm>
          <a:prstGeom prst="ellipse">
            <a:avLst/>
          </a:prstGeom>
          <a:solidFill>
            <a:srgbClr val="1B2838"/>
          </a:solidFill>
          <a:ln w="381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37160"/>
          <a:lstStyle/>
          <a:p>
            <a:pPr algn="ctr">
              <a:defRPr sz="1600" b="1">
                <a:solidFill>
                  <a:srgbClr val="2ECC71"/>
                </a:solidFill>
              </a:defRPr>
            </a:pPr>
            <a:r>
              <a:t>≥85%</a:t>
            </a:r>
          </a:p>
          <a:p>
            <a:pPr algn="ctr">
              <a:defRPr sz="900">
                <a:solidFill>
                  <a:srgbClr val="ADB5BD"/>
                </a:solidFill>
              </a:defRPr>
            </a:pPr>
            <a:r>
              <a:t>Target</a:t>
            </a:r>
            <a:br/>
            <a:r>
              <a:t>Efficiency</a:t>
            </a:r>
          </a:p>
        </p:txBody>
      </p:sp>
      <p:sp>
        <p:nvSpPr>
          <p:cNvPr id="15" name="Oval 14"/>
          <p:cNvSpPr/>
          <p:nvPr/>
        </p:nvSpPr>
        <p:spPr>
          <a:xfrm>
            <a:off x="7498079" y="5486400"/>
            <a:ext cx="1463040" cy="1463040"/>
          </a:xfrm>
          <a:prstGeom prst="ellipse">
            <a:avLst/>
          </a:prstGeom>
          <a:solidFill>
            <a:srgbClr val="1B2838"/>
          </a:solidFill>
          <a:ln w="381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37160"/>
          <a:lstStyle/>
          <a:p>
            <a:pPr algn="ctr">
              <a:defRPr sz="1600" b="1">
                <a:solidFill>
                  <a:srgbClr val="3498DB"/>
                </a:solidFill>
              </a:defRPr>
            </a:pPr>
            <a:r>
              <a:t>14-Week</a:t>
            </a:r>
          </a:p>
          <a:p>
            <a:pPr algn="ctr">
              <a:defRPr sz="900">
                <a:solidFill>
                  <a:srgbClr val="ADB5BD"/>
                </a:solidFill>
              </a:defRPr>
            </a:pPr>
            <a:r>
              <a:t>Delivery</a:t>
            </a:r>
            <a:br/>
            <a:r>
              <a:t>Plan</a:t>
            </a:r>
          </a:p>
        </p:txBody>
      </p:sp>
      <p:sp>
        <p:nvSpPr>
          <p:cNvPr id="16" name="Oval 15"/>
          <p:cNvSpPr/>
          <p:nvPr/>
        </p:nvSpPr>
        <p:spPr>
          <a:xfrm>
            <a:off x="9692640" y="5486400"/>
            <a:ext cx="1463040" cy="1463040"/>
          </a:xfrm>
          <a:prstGeom prst="ellipse">
            <a:avLst/>
          </a:prstGeom>
          <a:solidFill>
            <a:srgbClr val="1B2838"/>
          </a:solidFill>
          <a:ln w="381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37160"/>
          <a:lstStyle/>
          <a:p>
            <a:pPr algn="ctr">
              <a:defRPr sz="1600" b="1">
                <a:solidFill>
                  <a:srgbClr val="9B59B6"/>
                </a:solidFill>
              </a:defRPr>
            </a:pPr>
            <a:r>
              <a:t>₹3,620</a:t>
            </a:r>
          </a:p>
          <a:p>
            <a:pPr algn="ctr">
              <a:defRPr sz="900">
                <a:solidFill>
                  <a:srgbClr val="ADB5BD"/>
                </a:solidFill>
              </a:defRPr>
            </a:pPr>
            <a:r>
              <a:t>Total</a:t>
            </a:r>
            <a:br/>
            <a:r>
              <a:t>BOM Cost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20040"/>
            <a:ext cx="822960" cy="347472"/>
          </a:xfrm>
          <a:prstGeom prst="round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D1B2A"/>
                </a:solidFill>
              </a:defRPr>
            </a:pPr>
            <a:r>
              <a:t>018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0" y="228600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</a:defRPr>
            </a:pPr>
            <a:r>
              <a:t>References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77240"/>
            <a:ext cx="11247120" cy="228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379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ADB5BD"/>
                </a:solidFill>
              </a:defRPr>
            </a:pPr>
            <a:r>
              <a:t>CBIT  |  Dept. of Electrical &amp; Electronics 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DB5BD"/>
                </a:solidFill>
              </a:defRPr>
            </a:pPr>
            <a:r>
              <a:t>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5156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>
                <a:solidFill>
                  <a:srgbClr val="ADB5BD"/>
                </a:solidFill>
              </a:defRPr>
            </a:pPr>
            <a:r>
              <a:t>[1]  "A Smart Solar Charge Controller Based on IoT Technology," IEEE Xplore, doc. 9862445.</a:t>
            </a:r>
          </a:p>
          <a:p>
            <a:pPr>
              <a:spcAft>
                <a:spcPts val="1000"/>
              </a:spcAft>
              <a:defRPr sz="1200">
                <a:solidFill>
                  <a:srgbClr val="ADB5BD"/>
                </a:solidFill>
              </a:defRPr>
            </a:pPr>
            <a:r>
              <a:t>[2]  B. Pooja et al., "Design of a Battery Charge Controller Through MPPT," ICERECT 2023, doi:10.1109/ICERECT56837.2023.10060581.</a:t>
            </a:r>
          </a:p>
          <a:p>
            <a:pPr>
              <a:spcAft>
                <a:spcPts val="1000"/>
              </a:spcAft>
              <a:defRPr sz="1200">
                <a:solidFill>
                  <a:srgbClr val="ADB5BD"/>
                </a:solidFill>
              </a:defRPr>
            </a:pPr>
            <a:r>
              <a:t>[3]  N. Barua et al., "Cost-effective MPPT Solar PV System: IC vs P&amp;O," WIECON-ECE, 2016.</a:t>
            </a:r>
          </a:p>
          <a:p>
            <a:pPr>
              <a:spcAft>
                <a:spcPts val="1000"/>
              </a:spcAft>
              <a:defRPr sz="1200">
                <a:solidFill>
                  <a:srgbClr val="ADB5BD"/>
                </a:solidFill>
              </a:defRPr>
            </a:pPr>
            <a:r>
              <a:t>[4]  "Dual Axis Solar Tracking and Power Monitoring Using ESP32," IEEE Xplore, doc. 11337085.</a:t>
            </a:r>
          </a:p>
          <a:p>
            <a:pPr>
              <a:spcAft>
                <a:spcPts val="1000"/>
              </a:spcAft>
              <a:defRPr sz="1200">
                <a:solidFill>
                  <a:srgbClr val="ADB5BD"/>
                </a:solidFill>
              </a:defRPr>
            </a:pPr>
            <a:r>
              <a:t>[5]  "IoT-Based Transient Power Monitoring for Solar Inverters," IEEE Xplore, doc. 11074651.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05156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>
                <a:solidFill>
                  <a:srgbClr val="ADB5BD"/>
                </a:solidFill>
              </a:defRPr>
            </a:pPr>
            <a:r>
              <a:t>[6]  "IoT-Based Smart Microgrid EMS for Voltage Stability," IJERT, vol. 15, no. 5, 2025.</a:t>
            </a:r>
          </a:p>
          <a:p>
            <a:pPr>
              <a:spcAft>
                <a:spcPts val="1000"/>
              </a:spcAft>
              <a:defRPr sz="1200">
                <a:solidFill>
                  <a:srgbClr val="ADB5BD"/>
                </a:solidFill>
              </a:defRPr>
            </a:pPr>
            <a:r>
              <a:t>[7]  "Fuzzy Logic Based MPPT for PV Modules," IEEE Xplore, doc. 5754270.</a:t>
            </a:r>
          </a:p>
          <a:p>
            <a:pPr>
              <a:spcAft>
                <a:spcPts val="1000"/>
              </a:spcAft>
              <a:defRPr sz="1200">
                <a:solidFill>
                  <a:srgbClr val="ADB5BD"/>
                </a:solidFill>
              </a:defRPr>
            </a:pPr>
            <a:r>
              <a:t>[8]  H. Tasmant et al., "Review of ML and IoT-Based EMS for AC Microgrids," Comp. &amp; Elec. Eng., 2025.</a:t>
            </a:r>
          </a:p>
          <a:p>
            <a:pPr>
              <a:spcAft>
                <a:spcPts val="1000"/>
              </a:spcAft>
              <a:defRPr sz="1200">
                <a:solidFill>
                  <a:srgbClr val="ADB5BD"/>
                </a:solidFill>
              </a:defRPr>
            </a:pPr>
            <a:r>
              <a:t>[9]  M. A. G. de Brito et al., "Evaluation of MPPT Techniques for PV Applications," IEEE Trans. Ind. Electron., 2013.</a:t>
            </a:r>
          </a:p>
          <a:p>
            <a:pPr>
              <a:spcAft>
                <a:spcPts val="1000"/>
              </a:spcAft>
              <a:defRPr sz="1200">
                <a:solidFill>
                  <a:srgbClr val="ADB5BD"/>
                </a:solidFill>
              </a:defRPr>
            </a:pPr>
            <a:r>
              <a:t>[10] Texas Instruments, "INA219 Datasheet: Zero-Drift, Bi-Directional Current/Power Monitor," SBOS448G, 2015.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943600"/>
            <a:ext cx="11247120" cy="411480"/>
          </a:xfrm>
          <a:prstGeom prst="roundRect">
            <a:avLst/>
          </a:prstGeom>
          <a:solidFill>
            <a:srgbClr val="1B2838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i="1">
                <a:solidFill>
                  <a:srgbClr val="ADB5BD"/>
                </a:solidFill>
              </a:defRPr>
            </a:pPr>
            <a:r>
              <a:t>IEEE-style citations  ·  10 authentic references (≥5 required)  ·  DOIs / document IDs included  ·  Reference [6] year corrected to 2025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91695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816352"/>
            <a:ext cx="12191695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2889504"/>
            <a:ext cx="12191695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10896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00B4D8"/>
                </a:solidFill>
              </a:defRPr>
            </a:pPr>
            <a:r>
              <a:t>Questions &amp; Discussion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0" y="3520440"/>
            <a:ext cx="3931920" cy="274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39319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M. Krishna (160123734050)  |  N. Mounika (160123734014)  |  J. Akshitha (160123734005)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75488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ADB5BD"/>
                </a:solidFill>
              </a:defRPr>
            </a:pPr>
            <a:r>
              <a:t>Under the Guidance of  Mr. Cholleti Harish  |  Assistant Professor  |  Dept. of EEE, CBIT (Autonomous), Hyderabad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286000" y="5303520"/>
            <a:ext cx="7589520" cy="411480"/>
          </a:xfrm>
          <a:prstGeom prst="roundRect">
            <a:avLst/>
          </a:prstGeom>
          <a:solidFill>
            <a:srgbClr val="1B2838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00B4D8"/>
                </a:solidFill>
              </a:defRPr>
            </a:pPr>
            <a:r>
              <a:t>Department of Electrical and Electronics Engineering  |  CBIT (Autonomous), Hyderabad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5379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ADB5BD"/>
                </a:solidFill>
              </a:defRPr>
            </a:pPr>
            <a:r>
              <a:t>CBIT  |  Dept. of Electrical &amp; Electronics Engineering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DB5BD"/>
                </a:solidFill>
              </a:defRPr>
            </a:pPr>
            <a:r>
              <a:t>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